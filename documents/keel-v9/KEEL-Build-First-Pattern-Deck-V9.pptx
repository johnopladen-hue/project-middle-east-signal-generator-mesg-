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80" r:id="rId31"/>
    <p:sldId id="262" r:id="rId8"/>
    <p:sldId id="263" r:id="rId9"/>
    <p:sldId id="264" r:id="rId10"/>
    <p:sldId id="265" r:id="rId11"/>
    <p:sldId id="266" r:id="rId12"/>
    <p:sldId id="267" r:id="rId13"/>
    <p:sldId id="268" r:id="rId14"/>
    <p:sldId id="269" r:id="rId15"/>
    <p:sldId id="270" r:id="rId16"/>
    <p:sldId id="281" r:id="rId32"/>
    <p:sldId id="271" r:id="rId17"/>
    <p:sldId id="272" r:id="rId18"/>
    <p:sldId id="273" r:id="rId19"/>
    <p:sldId id="282" r:id="rId33"/>
    <p:sldId id="283" r:id="rId34"/>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1874520"/>
            <a:ext cx="10515600" cy="365760"/>
          </a:xfrm>
          <a:prstGeom prst="rect">
            <a:avLst/>
          </a:prstGeom>
          <a:noFill/>
          <a:ln/>
        </p:spPr>
        <p:txBody>
          <a:bodyPr wrap="square" lIns="0" tIns="0" rIns="0" bIns="0" rtlCol="0" anchor="ctr"/>
          <a:lstStyle/>
          <a:p>
            <a:pPr indent="0" marL="0">
              <a:buNone/>
            </a:pPr>
            <a:r>
              <a:rPr lang="en-US" sz="1600" b="1" spc="200" kern="0" dirty="0">
                <a:solidFill>
                  <a:srgbClr val="8A6D3B"/>
                </a:solidFill>
                <a:latin typeface="Calibri" pitchFamily="34" charset="0"/>
                <a:ea typeface="Calibri" pitchFamily="34" charset="-122"/>
                <a:cs typeface="Calibri" pitchFamily="34" charset="-120"/>
              </a:rPr>
              <a:t>KEEL · A GUILD DISCIPLINE FOR BUILDING WITH AI</a:t>
            </a:r>
            <a:endParaRPr lang="en-US" sz="1600" dirty="0"/>
          </a:p>
        </p:txBody>
      </p:sp>
      <p:sp>
        <p:nvSpPr>
          <p:cNvPr id="3" name="Text 1"/>
          <p:cNvSpPr/>
          <p:nvPr/>
        </p:nvSpPr>
        <p:spPr>
          <a:xfrm>
            <a:off x="822960" y="2194560"/>
            <a:ext cx="10515600" cy="17373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Build-First Pattern</a:t>
            </a:r>
            <a:endParaRPr lang="en-US" sz="4600" dirty="0"/>
          </a:p>
        </p:txBody>
      </p:sp>
      <p:sp>
        <p:nvSpPr>
          <p:cNvPr id="4" name="Text 2"/>
          <p:cNvSpPr/>
          <p:nvPr/>
        </p:nvSpPr>
        <p:spPr>
          <a:xfrm>
            <a:off x="822960" y="4114800"/>
            <a:ext cx="10058400" cy="10972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Lay the KEEL before you sail. The foundation you build every project on. For people who have judgment and intend to use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2011680"/>
            <a:ext cx="10515600" cy="2011680"/>
          </a:xfrm>
          <a:prstGeom prst="rect">
            <a:avLst/>
          </a:prstGeom>
          <a:noFill/>
          <a:ln/>
        </p:spPr>
        <p:txBody>
          <a:bodyPr wrap="square" lIns="0" tIns="0" rIns="0" bIns="0" rtlCol="0" anchor="ctr"/>
          <a:lstStyle/>
          <a:p>
            <a:pPr indent="0" marL="0">
              <a:lnSpc>
                <a:spcPct val="115000"/>
              </a:lnSpc>
              <a:buNone/>
            </a:pPr>
            <a:r>
              <a:rPr lang="en-US" sz="4400" b="1" dirty="0">
                <a:solidFill>
                  <a:srgbClr val="FFFFFF"/>
                </a:solidFill>
                <a:latin typeface="Cambria" pitchFamily="34" charset="0"/>
                <a:ea typeface="Cambria" pitchFamily="34" charset="-122"/>
                <a:cs typeface="Cambria" pitchFamily="34" charset="-120"/>
              </a:rPr>
              <a:t>“All good rules</a:t>
            </a:r>
            <a:endParaRPr lang="en-US" sz="4400" dirty="0"/>
          </a:p>
          <a:p>
            <a:pPr indent="0" marL="0">
              <a:lnSpc>
                <a:spcPct val="115000"/>
              </a:lnSpc>
              <a:buNone/>
            </a:pPr>
            <a:r>
              <a:rPr lang="en-US" sz="4400" b="1" dirty="0">
                <a:solidFill>
                  <a:srgbClr val="FFFFFF"/>
                </a:solidFill>
                <a:latin typeface="Cambria" pitchFamily="34" charset="0"/>
                <a:ea typeface="Cambria" pitchFamily="34" charset="-122"/>
                <a:cs typeface="Cambria" pitchFamily="34" charset="-120"/>
              </a:rPr>
              <a:t>were written in blood.”</a:t>
            </a:r>
            <a:endParaRPr lang="en-US" sz="4400" dirty="0"/>
          </a:p>
        </p:txBody>
      </p:sp>
      <p:sp>
        <p:nvSpPr>
          <p:cNvPr id="3" name="Text 1"/>
          <p:cNvSpPr/>
          <p:nvPr/>
        </p:nvSpPr>
        <p:spPr>
          <a:xfrm>
            <a:off x="822960" y="4297680"/>
            <a:ext cx="10058400" cy="6400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Every rule in this deck was paid for. Not a hypothetical — a scar.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moment we're in</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The tools now let one person build what used to take a team. That is the opportunity — and the trap. The speed is intoxicating, and intoxicated builders skip foundations.</a:t>
            </a:r>
            <a:endParaRPr lang="en-US" sz="1600" dirty="0"/>
          </a:p>
        </p:txBody>
      </p:sp>
      <p:sp>
        <p:nvSpPr>
          <p:cNvPr id="4" name="Shape 2"/>
          <p:cNvSpPr/>
          <p:nvPr/>
        </p:nvSpPr>
        <p:spPr>
          <a:xfrm>
            <a:off x="640080" y="2286000"/>
            <a:ext cx="2571750" cy="1828800"/>
          </a:xfrm>
          <a:prstGeom prst="rect">
            <a:avLst/>
          </a:prstGeom>
          <a:solidFill>
            <a:srgbClr val="F4F1EA"/>
          </a:solidFill>
          <a:ln/>
        </p:spPr>
      </p:sp>
      <p:sp>
        <p:nvSpPr>
          <p:cNvPr id="5" name="Text 3"/>
          <p:cNvSpPr/>
          <p:nvPr/>
        </p:nvSpPr>
        <p:spPr>
          <a:xfrm>
            <a:off x="822960" y="2514600"/>
            <a:ext cx="220599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The only copy vanishes</a:t>
            </a:r>
            <a:endParaRPr lang="en-US" sz="1550" dirty="0"/>
          </a:p>
        </p:txBody>
      </p:sp>
      <p:sp>
        <p:nvSpPr>
          <p:cNvPr id="6" name="Text 4"/>
          <p:cNvSpPr/>
          <p:nvPr/>
        </p:nvSpPr>
        <p:spPr>
          <a:xfrm>
            <a:off x="822960" y="3081528"/>
            <a:ext cx="2205990" cy="86868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Work that lived in one place — gone.</a:t>
            </a:r>
            <a:endParaRPr lang="en-US" sz="1250" dirty="0"/>
          </a:p>
        </p:txBody>
      </p:sp>
      <p:sp>
        <p:nvSpPr>
          <p:cNvPr id="7" name="Shape 5"/>
          <p:cNvSpPr/>
          <p:nvPr/>
        </p:nvSpPr>
        <p:spPr>
          <a:xfrm>
            <a:off x="3440430" y="2286000"/>
            <a:ext cx="2571750" cy="1828800"/>
          </a:xfrm>
          <a:prstGeom prst="rect">
            <a:avLst/>
          </a:prstGeom>
          <a:solidFill>
            <a:srgbClr val="F4F1EA"/>
          </a:solidFill>
          <a:ln/>
        </p:spPr>
      </p:sp>
      <p:sp>
        <p:nvSpPr>
          <p:cNvPr id="8" name="Text 6"/>
          <p:cNvSpPr/>
          <p:nvPr/>
        </p:nvSpPr>
        <p:spPr>
          <a:xfrm>
            <a:off x="3623310" y="2514600"/>
            <a:ext cx="220599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Nothing was ever tested</a:t>
            </a:r>
            <a:endParaRPr lang="en-US" sz="1550" dirty="0"/>
          </a:p>
        </p:txBody>
      </p:sp>
      <p:sp>
        <p:nvSpPr>
          <p:cNvPr id="9" name="Text 7"/>
          <p:cNvSpPr/>
          <p:nvPr/>
        </p:nvSpPr>
        <p:spPr>
          <a:xfrm>
            <a:off x="3623310" y="3081528"/>
            <a:ext cx="2205990" cy="86868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Broken code ships; nobody knows.</a:t>
            </a:r>
            <a:endParaRPr lang="en-US" sz="1250" dirty="0"/>
          </a:p>
        </p:txBody>
      </p:sp>
      <p:sp>
        <p:nvSpPr>
          <p:cNvPr id="10" name="Shape 8"/>
          <p:cNvSpPr/>
          <p:nvPr/>
        </p:nvSpPr>
        <p:spPr>
          <a:xfrm>
            <a:off x="6240780" y="2286000"/>
            <a:ext cx="2571750" cy="1828800"/>
          </a:xfrm>
          <a:prstGeom prst="rect">
            <a:avLst/>
          </a:prstGeom>
          <a:solidFill>
            <a:srgbClr val="F4F1EA"/>
          </a:solidFill>
          <a:ln/>
        </p:spPr>
      </p:sp>
      <p:sp>
        <p:nvSpPr>
          <p:cNvPr id="11" name="Text 9"/>
          <p:cNvSpPr/>
          <p:nvPr/>
        </p:nvSpPr>
        <p:spPr>
          <a:xfrm>
            <a:off x="6423660" y="2514600"/>
            <a:ext cx="220599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A decision is lost</a:t>
            </a:r>
            <a:endParaRPr lang="en-US" sz="1550" dirty="0"/>
          </a:p>
        </p:txBody>
      </p:sp>
      <p:sp>
        <p:nvSpPr>
          <p:cNvPr id="12" name="Text 10"/>
          <p:cNvSpPr/>
          <p:nvPr/>
        </p:nvSpPr>
        <p:spPr>
          <a:xfrm>
            <a:off x="6423660" y="3081528"/>
            <a:ext cx="2205990" cy="86868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Agreed in a chat, never written down.</a:t>
            </a:r>
            <a:endParaRPr lang="en-US" sz="1250" dirty="0"/>
          </a:p>
        </p:txBody>
      </p:sp>
      <p:sp>
        <p:nvSpPr>
          <p:cNvPr id="13" name="Shape 11"/>
          <p:cNvSpPr/>
          <p:nvPr/>
        </p:nvSpPr>
        <p:spPr>
          <a:xfrm>
            <a:off x="9041130" y="2286000"/>
            <a:ext cx="2571750" cy="1828800"/>
          </a:xfrm>
          <a:prstGeom prst="rect">
            <a:avLst/>
          </a:prstGeom>
          <a:solidFill>
            <a:srgbClr val="F4F1EA"/>
          </a:solidFill>
          <a:ln/>
        </p:spPr>
      </p:sp>
      <p:sp>
        <p:nvSpPr>
          <p:cNvPr id="14" name="Text 12"/>
          <p:cNvSpPr/>
          <p:nvPr/>
        </p:nvSpPr>
        <p:spPr>
          <a:xfrm>
            <a:off x="9224010" y="2514600"/>
            <a:ext cx="220599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A record nobody can find</a:t>
            </a:r>
            <a:endParaRPr lang="en-US" sz="1550" dirty="0"/>
          </a:p>
        </p:txBody>
      </p:sp>
      <p:sp>
        <p:nvSpPr>
          <p:cNvPr id="15" name="Text 13"/>
          <p:cNvSpPr/>
          <p:nvPr/>
        </p:nvSpPr>
        <p:spPr>
          <a:xfrm>
            <a:off x="9224010" y="3081528"/>
            <a:ext cx="2205990" cy="86868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Written down — in a file no one would think to open.</a:t>
            </a:r>
            <a:endParaRPr lang="en-US" sz="1250" dirty="0"/>
          </a:p>
        </p:txBody>
      </p:sp>
      <p:sp>
        <p:nvSpPr>
          <p:cNvPr id="16" name="Text 14"/>
          <p:cNvSpPr/>
          <p:nvPr/>
        </p:nvSpPr>
        <p:spPr>
          <a:xfrm>
            <a:off x="640080" y="457200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The people who thrive here are not the fastest typists. They are the ones with the discipline to insist on solid ground before they build on it.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one rule, if you remember nothing else</a:t>
            </a:r>
            <a:endParaRPr lang="en-US" sz="3200" dirty="0"/>
          </a:p>
        </p:txBody>
      </p:sp>
      <p:sp>
        <p:nvSpPr>
          <p:cNvPr id="3" name="Shape 1"/>
          <p:cNvSpPr/>
          <p:nvPr/>
        </p:nvSpPr>
        <p:spPr>
          <a:xfrm>
            <a:off x="640080" y="1554480"/>
            <a:ext cx="10972800" cy="1965960"/>
          </a:xfrm>
          <a:prstGeom prst="rect">
            <a:avLst/>
          </a:prstGeom>
          <a:solidFill>
            <a:srgbClr val="F4F1EA"/>
          </a:solidFill>
          <a:ln/>
        </p:spPr>
      </p:sp>
      <p:sp>
        <p:nvSpPr>
          <p:cNvPr id="4" name="Text 2"/>
          <p:cNvSpPr/>
          <p:nvPr/>
        </p:nvSpPr>
        <p:spPr>
          <a:xfrm>
            <a:off x="960120" y="1783080"/>
            <a:ext cx="10332720" cy="1051560"/>
          </a:xfrm>
          <a:prstGeom prst="rect">
            <a:avLst/>
          </a:prstGeom>
          <a:noFill/>
          <a:ln/>
        </p:spPr>
        <p:txBody>
          <a:bodyPr wrap="square" lIns="0" tIns="0" rIns="0" bIns="0" rtlCol="0" anchor="t"/>
          <a:lstStyle/>
          <a:p>
            <a:pPr indent="0" marL="0">
              <a:buNone/>
            </a:pPr>
            <a:r>
              <a:rPr lang="en-US" sz="2300" b="1" dirty="0">
                <a:solidFill>
                  <a:srgbClr val="1F3A5F"/>
                </a:solidFill>
                <a:latin typeface="Calibri" pitchFamily="34" charset="0"/>
                <a:ea typeface="Calibri" pitchFamily="34" charset="-122"/>
                <a:cs typeface="Calibri" pitchFamily="34" charset="-120"/>
              </a:rPr>
              <a:t>Lay the KEEL — version control, automated testing, automated deployment — BEFORE you plan a single feature, and before you dream with an AI.</a:t>
            </a:r>
            <a:endParaRPr lang="en-US" sz="2300" dirty="0"/>
          </a:p>
        </p:txBody>
      </p:sp>
      <p:sp>
        <p:nvSpPr>
          <p:cNvPr id="5" name="Text 3"/>
          <p:cNvSpPr/>
          <p:nvPr/>
        </p:nvSpPr>
        <p:spPr>
          <a:xfrm>
            <a:off x="960120" y="2880360"/>
            <a:ext cx="10332720" cy="457200"/>
          </a:xfrm>
          <a:prstGeom prst="rect">
            <a:avLst/>
          </a:prstGeom>
          <a:noFill/>
          <a:ln/>
        </p:spPr>
        <p:txBody>
          <a:bodyPr wrap="square" lIns="0" tIns="0" rIns="0" bIns="0" rtlCol="0" anchor="ctr"/>
          <a:lstStyle/>
          <a:p>
            <a:pPr indent="0" marL="0">
              <a:buNone/>
            </a:pPr>
            <a:r>
              <a:rPr lang="en-US" sz="1700" dirty="0">
                <a:solidFill>
                  <a:srgbClr val="3A4A5A"/>
                </a:solidFill>
                <a:latin typeface="Calibri" pitchFamily="34" charset="0"/>
                <a:ea typeface="Calibri" pitchFamily="34" charset="-122"/>
                <a:cs typeface="Calibri" pitchFamily="34" charset="-120"/>
              </a:rPr>
              <a:t>Not after the prototype works. Not once it “gets serious.” First.</a:t>
            </a:r>
            <a:endParaRPr lang="en-US" sz="1700" dirty="0"/>
          </a:p>
        </p:txBody>
      </p:sp>
      <p:sp>
        <p:nvSpPr>
          <p:cNvPr id="6" name="Text 4"/>
          <p:cNvSpPr/>
          <p:nvPr/>
        </p:nvSpPr>
        <p:spPr>
          <a:xfrm>
            <a:off x="640080" y="3749040"/>
            <a:ext cx="10972800" cy="548640"/>
          </a:xfrm>
          <a:prstGeom prst="rect">
            <a:avLst/>
          </a:prstGeom>
          <a:noFill/>
          <a:ln/>
        </p:spPr>
        <p:txBody>
          <a:bodyPr wrap="square" lIns="0" tIns="0" rIns="0" bIns="0" rtlCol="0" anchor="ctr"/>
          <a:lstStyle/>
          <a:p>
            <a:pPr indent="0" marL="0">
              <a:buNone/>
            </a:pPr>
            <a:r>
              <a:rPr lang="en-US" sz="1600" b="1" dirty="0">
                <a:solidFill>
                  <a:srgbClr val="3A4A5A"/>
                </a:solidFill>
                <a:latin typeface="Calibri" pitchFamily="34" charset="0"/>
                <a:ea typeface="Calibri" pitchFamily="34" charset="-122"/>
                <a:cs typeface="Calibri" pitchFamily="34" charset="-120"/>
              </a:rPr>
              <a:t>Thirty seconds on day one.   ·   A painful, error-prone retrofit on day ninety.   ·   You will never regret having it.</a:t>
            </a:r>
            <a:endParaRPr lang="en-US" sz="1600" dirty="0"/>
          </a:p>
        </p:txBody>
      </p:sp>
      <p:sp>
        <p:nvSpPr>
          <p:cNvPr id="7" name="Text 5"/>
          <p:cNvSpPr/>
          <p:nvPr/>
        </p:nvSpPr>
        <p:spPr>
          <a:xfrm>
            <a:off x="640080" y="461772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The KEEL: the first timber laid — the spine that keeps a boat upright when the weather turns. A project without one doesn’t sail badly; it capsizes.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1874520"/>
            <a:ext cx="10515600" cy="365760"/>
          </a:xfrm>
          <a:prstGeom prst="rect">
            <a:avLst/>
          </a:prstGeom>
          <a:noFill/>
          <a:ln/>
        </p:spPr>
        <p:txBody>
          <a:bodyPr wrap="square" lIns="0" tIns="0" rIns="0" bIns="0" rtlCol="0" anchor="ctr"/>
          <a:lstStyle/>
          <a:p>
            <a:pPr indent="0" marL="0">
              <a:buNone/>
            </a:pPr>
            <a:r>
              <a:rPr lang="en-US" sz="1600" b="1" spc="200" kern="0" dirty="0">
                <a:solidFill>
                  <a:srgbClr val="8A6D3B"/>
                </a:solidFill>
                <a:latin typeface="Calibri" pitchFamily="34" charset="0"/>
                <a:ea typeface="Calibri" pitchFamily="34" charset="-122"/>
                <a:cs typeface="Calibri" pitchFamily="34" charset="-120"/>
              </a:rPr>
              <a:t>BEFORE ANYTHING ELSE</a:t>
            </a:r>
            <a:endParaRPr lang="en-US" sz="1600" dirty="0"/>
          </a:p>
        </p:txBody>
      </p:sp>
      <p:sp>
        <p:nvSpPr>
          <p:cNvPr id="3" name="Text 1"/>
          <p:cNvSpPr/>
          <p:nvPr/>
        </p:nvSpPr>
        <p:spPr>
          <a:xfrm>
            <a:off x="822960" y="2194560"/>
            <a:ext cx="10515600" cy="17373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Three players.</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Two of them are AIs.</a:t>
            </a:r>
            <a:endParaRPr lang="en-US" sz="4600" dirty="0"/>
          </a:p>
        </p:txBody>
      </p:sp>
      <p:sp>
        <p:nvSpPr>
          <p:cNvPr id="4" name="Text 2"/>
          <p:cNvSpPr/>
          <p:nvPr/>
        </p:nvSpPr>
        <p:spPr>
          <a:xfrm>
            <a:off x="822960" y="4114800"/>
            <a:ext cx="10058400" cy="10972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Confusing the two AIs is the #1 beginner mistake. Forgetting the third player is the one nobody warns you about.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Planner vs. the Builder</a:t>
            </a:r>
            <a:endParaRPr lang="en-US" sz="3200" dirty="0"/>
          </a:p>
        </p:txBody>
      </p:sp>
      <p:sp>
        <p:nvSpPr>
          <p:cNvPr id="3" name="Shape 1"/>
          <p:cNvSpPr/>
          <p:nvPr/>
        </p:nvSpPr>
        <p:spPr>
          <a:xfrm>
            <a:off x="640080" y="1737360"/>
            <a:ext cx="5148072" cy="3291840"/>
          </a:xfrm>
          <a:prstGeom prst="rect">
            <a:avLst/>
          </a:prstGeom>
          <a:solidFill>
            <a:srgbClr val="F4F1EA"/>
          </a:solidFill>
          <a:ln/>
        </p:spPr>
      </p:sp>
      <p:sp>
        <p:nvSpPr>
          <p:cNvPr id="4" name="Text 2"/>
          <p:cNvSpPr/>
          <p:nvPr/>
        </p:nvSpPr>
        <p:spPr>
          <a:xfrm>
            <a:off x="932688" y="1993392"/>
            <a:ext cx="4572000" cy="320040"/>
          </a:xfrm>
          <a:prstGeom prst="rect">
            <a:avLst/>
          </a:prstGeom>
          <a:noFill/>
          <a:ln/>
        </p:spPr>
        <p:txBody>
          <a:bodyPr wrap="square" lIns="0" tIns="0" rIns="0" bIns="0" rtlCol="0" anchor="ctr"/>
          <a:lstStyle/>
          <a:p>
            <a:pPr indent="0" marL="0">
              <a:buNone/>
            </a:pPr>
            <a:r>
              <a:rPr lang="en-US" sz="1300" b="1" spc="150" kern="0" dirty="0">
                <a:solidFill>
                  <a:srgbClr val="1F3A5F"/>
                </a:solidFill>
                <a:latin typeface="Calibri" pitchFamily="34" charset="0"/>
                <a:ea typeface="Calibri" pitchFamily="34" charset="-122"/>
                <a:cs typeface="Calibri" pitchFamily="34" charset="-120"/>
              </a:rPr>
              <a:t>THE PLANNER</a:t>
            </a:r>
            <a:endParaRPr lang="en-US" sz="1300" dirty="0"/>
          </a:p>
        </p:txBody>
      </p:sp>
      <p:sp>
        <p:nvSpPr>
          <p:cNvPr id="5" name="Text 3"/>
          <p:cNvSpPr/>
          <p:nvPr/>
        </p:nvSpPr>
        <p:spPr>
          <a:xfrm>
            <a:off x="932688" y="235915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Your AI chat (Claude / Grok, in a browser Project)</a:t>
            </a:r>
            <a:endParaRPr lang="en-US" sz="1500" dirty="0"/>
          </a:p>
        </p:txBody>
      </p:sp>
      <p:sp>
        <p:nvSpPr>
          <p:cNvPr id="6" name="Text 4"/>
          <p:cNvSpPr/>
          <p:nvPr/>
        </p:nvSpPr>
        <p:spPr>
          <a:xfrm>
            <a:off x="932688" y="2880360"/>
            <a:ext cx="4572000" cy="187452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In a sealed room.</a:t>
            </a: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Sees NOTHING of your code by default — only what you carry in, and a repository you have explicitly connected.</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That distance is why it’s right for THINKING: architecture, plans, catching the mistake you’re about to make.</a:t>
            </a:r>
            <a:endParaRPr lang="en-US" sz="1350" dirty="0"/>
          </a:p>
        </p:txBody>
      </p:sp>
      <p:sp>
        <p:nvSpPr>
          <p:cNvPr id="7" name="Shape 5"/>
          <p:cNvSpPr/>
          <p:nvPr/>
        </p:nvSpPr>
        <p:spPr>
          <a:xfrm>
            <a:off x="6400800" y="1737360"/>
            <a:ext cx="5148072" cy="3291840"/>
          </a:xfrm>
          <a:prstGeom prst="rect">
            <a:avLst/>
          </a:prstGeom>
          <a:solidFill>
            <a:srgbClr val="F4F1EA"/>
          </a:solidFill>
          <a:ln/>
        </p:spPr>
      </p:sp>
      <p:sp>
        <p:nvSpPr>
          <p:cNvPr id="8" name="Text 6"/>
          <p:cNvSpPr/>
          <p:nvPr/>
        </p:nvSpPr>
        <p:spPr>
          <a:xfrm>
            <a:off x="6693408" y="1993392"/>
            <a:ext cx="4572000" cy="320040"/>
          </a:xfrm>
          <a:prstGeom prst="rect">
            <a:avLst/>
          </a:prstGeom>
          <a:noFill/>
          <a:ln/>
        </p:spPr>
        <p:txBody>
          <a:bodyPr wrap="square" lIns="0" tIns="0" rIns="0" bIns="0" rtlCol="0" anchor="ctr"/>
          <a:lstStyle/>
          <a:p>
            <a:pPr indent="0" marL="0">
              <a:buNone/>
            </a:pPr>
            <a:r>
              <a:rPr lang="en-US" sz="1300" b="1" spc="150" kern="0" dirty="0">
                <a:solidFill>
                  <a:srgbClr val="7A2E2E"/>
                </a:solidFill>
                <a:latin typeface="Calibri" pitchFamily="34" charset="0"/>
                <a:ea typeface="Calibri" pitchFamily="34" charset="-122"/>
                <a:cs typeface="Calibri" pitchFamily="34" charset="-120"/>
              </a:rPr>
              <a:t>THE BUILDER</a:t>
            </a:r>
            <a:endParaRPr lang="en-US" sz="1300" dirty="0"/>
          </a:p>
        </p:txBody>
      </p:sp>
      <p:sp>
        <p:nvSpPr>
          <p:cNvPr id="9" name="Text 7"/>
          <p:cNvSpPr/>
          <p:nvPr/>
        </p:nvSpPr>
        <p:spPr>
          <a:xfrm>
            <a:off x="6693408" y="235915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Claude Code / Grok build tool, on your laptop</a:t>
            </a:r>
            <a:endParaRPr lang="en-US" sz="1500" dirty="0"/>
          </a:p>
        </p:txBody>
      </p:sp>
      <p:sp>
        <p:nvSpPr>
          <p:cNvPr id="10" name="Text 8"/>
          <p:cNvSpPr/>
          <p:nvPr/>
        </p:nvSpPr>
        <p:spPr>
          <a:xfrm>
            <a:off x="6693408" y="2880360"/>
            <a:ext cx="4572000" cy="187452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Works as YOU.</a:t>
            </a: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Once logged in it sees everything you see — files, repo, the live system — and can edit, test, ship.</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In the trenches. Right for DOING: writing code, running tests, deploying.</a:t>
            </a:r>
            <a:endParaRPr lang="en-US" sz="1350" dirty="0"/>
          </a:p>
        </p:txBody>
      </p:sp>
      <p:sp>
        <p:nvSpPr>
          <p:cNvPr id="11" name="Text 9"/>
          <p:cNvSpPr/>
          <p:nvPr/>
        </p:nvSpPr>
        <p:spPr>
          <a:xfrm>
            <a:off x="640080" y="525780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Plan with the one that can’t build. Build with the one that shouldn’t plan. Then turn the page — because neither of them can do your job.</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Build in the open. Go private when it goes real.</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Your Builder reads a private repository fine — it logs in as you. Your Planner cannot: it can only connect directly to a repository that is PUBLIC.</a:t>
            </a:r>
            <a:endParaRPr lang="en-US" sz="1600" dirty="0"/>
          </a:p>
        </p:txBody>
      </p:sp>
      <p:sp>
        <p:nvSpPr>
          <p:cNvPr id="4" name="Shape 2"/>
          <p:cNvSpPr/>
          <p:nvPr/>
        </p:nvSpPr>
        <p:spPr>
          <a:xfrm>
            <a:off x="640080" y="1920240"/>
            <a:ext cx="5148072" cy="3200400"/>
          </a:xfrm>
          <a:prstGeom prst="rect">
            <a:avLst/>
          </a:prstGeom>
          <a:solidFill>
            <a:srgbClr val="F4F1EA"/>
          </a:solidFill>
          <a:ln/>
        </p:spPr>
      </p:sp>
      <p:sp>
        <p:nvSpPr>
          <p:cNvPr id="5" name="Text 3"/>
          <p:cNvSpPr/>
          <p:nvPr/>
        </p:nvSpPr>
        <p:spPr>
          <a:xfrm>
            <a:off x="932688" y="2176272"/>
            <a:ext cx="4572000" cy="320040"/>
          </a:xfrm>
          <a:prstGeom prst="rect">
            <a:avLst/>
          </a:prstGeom>
          <a:noFill/>
          <a:ln/>
        </p:spPr>
        <p:txBody>
          <a:bodyPr wrap="square" lIns="0" tIns="0" rIns="0" bIns="0" rtlCol="0" anchor="ctr"/>
          <a:lstStyle/>
          <a:p>
            <a:pPr indent="0" marL="0">
              <a:buNone/>
            </a:pPr>
            <a:r>
              <a:rPr lang="en-US" sz="1300" b="1" spc="150" kern="0" dirty="0">
                <a:solidFill>
                  <a:srgbClr val="1F3A5F"/>
                </a:solidFill>
                <a:latin typeface="Calibri" pitchFamily="34" charset="0"/>
                <a:ea typeface="Calibri" pitchFamily="34" charset="-122"/>
                <a:cs typeface="Calibri" pitchFamily="34" charset="-120"/>
              </a:rPr>
              <a:t>WHILE YOU BUILD — PUBLIC</a:t>
            </a:r>
            <a:endParaRPr lang="en-US" sz="1300" dirty="0"/>
          </a:p>
        </p:txBody>
      </p:sp>
      <p:sp>
        <p:nvSpPr>
          <p:cNvPr id="6" name="Text 4"/>
          <p:cNvSpPr/>
          <p:nvPr/>
        </p:nvSpPr>
        <p:spPr>
          <a:xfrm>
            <a:off x="932688" y="254203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Nothing to protect yet</a:t>
            </a:r>
            <a:endParaRPr lang="en-US" sz="1500" dirty="0"/>
          </a:p>
        </p:txBody>
      </p:sp>
      <p:sp>
        <p:nvSpPr>
          <p:cNvPr id="7" name="Text 5"/>
          <p:cNvSpPr/>
          <p:nvPr/>
        </p:nvSpPr>
        <p:spPr>
          <a:xfrm>
            <a:off x="932688" y="3063240"/>
            <a:ext cx="4572000" cy="178308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No credentials. No user data. No live system.</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 Planner is connected and reads your real, current code — so no morning ritual of packaging archives by hand.</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 price: nothing secret ever goes in a file. That is Principle 4, structurally enforced instead of merely intended.</a:t>
            </a:r>
            <a:endParaRPr lang="en-US" sz="1350" dirty="0"/>
          </a:p>
        </p:txBody>
      </p:sp>
      <p:sp>
        <p:nvSpPr>
          <p:cNvPr id="8" name="Shape 6"/>
          <p:cNvSpPr/>
          <p:nvPr/>
        </p:nvSpPr>
        <p:spPr>
          <a:xfrm>
            <a:off x="6400800" y="1920240"/>
            <a:ext cx="5148072" cy="3200400"/>
          </a:xfrm>
          <a:prstGeom prst="rect">
            <a:avLst/>
          </a:prstGeom>
          <a:solidFill>
            <a:srgbClr val="F4F1EA"/>
          </a:solidFill>
          <a:ln/>
        </p:spPr>
      </p:sp>
      <p:sp>
        <p:nvSpPr>
          <p:cNvPr id="9" name="Text 7"/>
          <p:cNvSpPr/>
          <p:nvPr/>
        </p:nvSpPr>
        <p:spPr>
          <a:xfrm>
            <a:off x="6693408" y="2176272"/>
            <a:ext cx="4572000" cy="320040"/>
          </a:xfrm>
          <a:prstGeom prst="rect">
            <a:avLst/>
          </a:prstGeom>
          <a:noFill/>
          <a:ln/>
        </p:spPr>
        <p:txBody>
          <a:bodyPr wrap="square" lIns="0" tIns="0" rIns="0" bIns="0" rtlCol="0" anchor="ctr"/>
          <a:lstStyle/>
          <a:p>
            <a:pPr indent="0" marL="0">
              <a:buNone/>
            </a:pPr>
            <a:r>
              <a:rPr lang="en-US" sz="1300" b="1" spc="150" kern="0" dirty="0">
                <a:solidFill>
                  <a:srgbClr val="7A2E2E"/>
                </a:solidFill>
                <a:latin typeface="Calibri" pitchFamily="34" charset="0"/>
                <a:ea typeface="Calibri" pitchFamily="34" charset="-122"/>
                <a:cs typeface="Calibri" pitchFamily="34" charset="-120"/>
              </a:rPr>
              <a:t>WHEN IT GOES REAL — PRIVATE</a:t>
            </a:r>
            <a:endParaRPr lang="en-US" sz="1300" dirty="0"/>
          </a:p>
        </p:txBody>
      </p:sp>
      <p:sp>
        <p:nvSpPr>
          <p:cNvPr id="10" name="Text 8"/>
          <p:cNvSpPr/>
          <p:nvPr/>
        </p:nvSpPr>
        <p:spPr>
          <a:xfrm>
            <a:off x="6693408" y="254203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Flip at the first of these, whichever comes first</a:t>
            </a:r>
            <a:endParaRPr lang="en-US" sz="1500" dirty="0"/>
          </a:p>
        </p:txBody>
      </p:sp>
      <p:sp>
        <p:nvSpPr>
          <p:cNvPr id="11" name="Text 9"/>
          <p:cNvSpPr/>
          <p:nvPr/>
        </p:nvSpPr>
        <p:spPr>
          <a:xfrm>
            <a:off x="6693408" y="3063240"/>
            <a:ext cx="4572000" cy="178308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The first real credential.</a:t>
            </a: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 first real user data.</a:t>
            </a: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 first live deploy.</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You lose the Planner’s direct view, and pre-flight reverts to handing it a snapshot by hand. That is the right cost to pay — at that point, and not before.</a:t>
            </a:r>
            <a:endParaRPr lang="en-US" sz="1350" dirty="0"/>
          </a:p>
        </p:txBody>
      </p:sp>
      <p:sp>
        <p:nvSpPr>
          <p:cNvPr id="12" name="Text 10"/>
          <p:cNvSpPr/>
          <p:nvPr/>
        </p:nvSpPr>
        <p:spPr>
          <a:xfrm>
            <a:off x="640080" y="534924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We assumed private was simply the responsible default and never asked what it cost. It cost us the Planner’s eyes — for weeks.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1874520"/>
            <a:ext cx="10515600" cy="365760"/>
          </a:xfrm>
          <a:prstGeom prst="rect">
            <a:avLst/>
          </a:prstGeom>
          <a:noFill/>
          <a:ln/>
        </p:spPr>
        <p:txBody>
          <a:bodyPr wrap="square" lIns="0" tIns="0" rIns="0" bIns="0" rtlCol="0" anchor="ctr"/>
          <a:lstStyle/>
          <a:p>
            <a:pPr indent="0" marL="0">
              <a:buNone/>
            </a:pPr>
            <a:r>
              <a:rPr lang="en-US" sz="1600" b="1" spc="200" kern="0" dirty="0">
                <a:solidFill>
                  <a:srgbClr val="8A6D3B"/>
                </a:solidFill>
                <a:latin typeface="Calibri" pitchFamily="34" charset="0"/>
                <a:ea typeface="Calibri" pitchFamily="34" charset="-122"/>
                <a:cs typeface="Calibri" pitchFamily="34" charset="-120"/>
              </a:rPr>
              <a:t>THE CORE</a:t>
            </a:r>
            <a:endParaRPr lang="en-US" sz="1600" dirty="0"/>
          </a:p>
        </p:txBody>
      </p:sp>
      <p:sp>
        <p:nvSpPr>
          <p:cNvPr id="3" name="Text 1"/>
          <p:cNvSpPr/>
          <p:nvPr/>
        </p:nvSpPr>
        <p:spPr>
          <a:xfrm>
            <a:off x="822960" y="2194560"/>
            <a:ext cx="10515600" cy="17373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eleven principles</a:t>
            </a:r>
            <a:endParaRPr lang="en-US" sz="4600" dirty="0"/>
          </a:p>
        </p:txBody>
      </p:sp>
      <p:sp>
        <p:nvSpPr>
          <p:cNvPr id="4" name="Text 2"/>
          <p:cNvSpPr/>
          <p:nvPr/>
        </p:nvSpPr>
        <p:spPr>
          <a:xfrm>
            <a:off x="822960" y="4114800"/>
            <a:ext cx="10058400" cy="10972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Each one learned the hard way. Each with the scar that earned it.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1–2</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One canonical copy. Exactly one.</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A version-controlled repository with an offsite copy, from day one. No “backup folder,” no pile of snapshots. The place you edit is the one true place.</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Fourteen near-identical snapshot folders — we nearly edited a dead one. A whole feature existed ONLY on the running server, committed nowhere. One power-cycle from gone.</a:t>
            </a:r>
            <a:endParaRPr lang="en-US" sz="1300" dirty="0"/>
          </a:p>
        </p:txBody>
      </p:sp>
      <p:sp>
        <p:nvSpPr>
          <p:cNvPr id="9" name="Shape 7"/>
          <p:cNvSpPr/>
          <p:nvPr/>
        </p:nvSpPr>
        <p:spPr>
          <a:xfrm>
            <a:off x="640080" y="3794760"/>
            <a:ext cx="502920" cy="502920"/>
          </a:xfrm>
          <a:prstGeom prst="rect">
            <a:avLst/>
          </a:prstGeom>
          <a:solidFill>
            <a:srgbClr val="1F3A5F"/>
          </a:solidFill>
          <a:ln/>
        </p:spPr>
      </p:sp>
      <p:sp>
        <p:nvSpPr>
          <p:cNvPr id="10"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1" name="Text 9"/>
          <p:cNvSpPr/>
          <p:nvPr/>
        </p:nvSpPr>
        <p:spPr>
          <a:xfrm>
            <a:off x="1325880" y="377647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Tests guard deployment. Always. From the first change.</a:t>
            </a:r>
            <a:endParaRPr lang="en-US" sz="1900" dirty="0"/>
          </a:p>
        </p:txBody>
      </p:sp>
      <p:sp>
        <p:nvSpPr>
          <p:cNvPr id="12" name="Text 10"/>
          <p:cNvSpPr/>
          <p:nvPr/>
        </p:nvSpPr>
        <p:spPr>
          <a:xfrm>
            <a:off x="1325880" y="425196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A broken build must be physically unable to reach production. Automatic — not a habit you rely on remembering.</a:t>
            </a:r>
            <a:endParaRPr lang="en-US" sz="1450" dirty="0"/>
          </a:p>
        </p:txBody>
      </p:sp>
      <p:sp>
        <p:nvSpPr>
          <p:cNvPr id="13" name="Shape 11"/>
          <p:cNvSpPr/>
          <p:nvPr/>
        </p:nvSpPr>
        <p:spPr>
          <a:xfrm>
            <a:off x="1325880" y="4946904"/>
            <a:ext cx="10149840" cy="868680"/>
          </a:xfrm>
          <a:prstGeom prst="rect">
            <a:avLst/>
          </a:prstGeom>
          <a:solidFill>
            <a:srgbClr val="F6EEEE"/>
          </a:solidFill>
          <a:ln/>
        </p:spPr>
      </p:sp>
      <p:sp>
        <p:nvSpPr>
          <p:cNvPr id="14" name="Text 12"/>
          <p:cNvSpPr/>
          <p:nvPr/>
        </p:nvSpPr>
        <p:spPr>
          <a:xfrm>
            <a:off x="1508760" y="503834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For weeks, anything we pushed could reach production whether it worked or not. One bad afternoon from shipping a broken build to the system we depend on daily.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3–4</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Deployment is automated, never by hand.</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Merging your approved work is what ships it — not you running a command and hoping. Manual deploy is break-glass only.</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We deployed by hand for weeks while the automatic deploy we THOUGHT we had sat silently broken the entire time. Nobody knew, because nothing told us.</a:t>
            </a:r>
            <a:endParaRPr lang="en-US" sz="1300" dirty="0"/>
          </a:p>
        </p:txBody>
      </p:sp>
      <p:sp>
        <p:nvSpPr>
          <p:cNvPr id="9" name="Shape 7"/>
          <p:cNvSpPr/>
          <p:nvPr/>
        </p:nvSpPr>
        <p:spPr>
          <a:xfrm>
            <a:off x="640080" y="3794760"/>
            <a:ext cx="502920" cy="502920"/>
          </a:xfrm>
          <a:prstGeom prst="rect">
            <a:avLst/>
          </a:prstGeom>
          <a:solidFill>
            <a:srgbClr val="1F3A5F"/>
          </a:solidFill>
          <a:ln/>
        </p:spPr>
      </p:sp>
      <p:sp>
        <p:nvSpPr>
          <p:cNvPr id="10"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1" name="Text 9"/>
          <p:cNvSpPr/>
          <p:nvPr/>
        </p:nvSpPr>
        <p:spPr>
          <a:xfrm>
            <a:off x="1325880" y="377647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Secrets live in the platform, never in the code.</a:t>
            </a:r>
            <a:endParaRPr lang="en-US" sz="1900" dirty="0"/>
          </a:p>
        </p:txBody>
      </p:sp>
      <p:sp>
        <p:nvSpPr>
          <p:cNvPr id="12" name="Text 10"/>
          <p:cNvSpPr/>
          <p:nvPr/>
        </p:nvSpPr>
        <p:spPr>
          <a:xfrm>
            <a:off x="1325880" y="425196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Passwords, keys, tokens live in the hosting platform, referenced by name. Never in a file, never committed, never pasted into a chat.</a:t>
            </a:r>
            <a:endParaRPr lang="en-US" sz="1450" dirty="0"/>
          </a:p>
        </p:txBody>
      </p:sp>
      <p:sp>
        <p:nvSpPr>
          <p:cNvPr id="13" name="Shape 11"/>
          <p:cNvSpPr/>
          <p:nvPr/>
        </p:nvSpPr>
        <p:spPr>
          <a:xfrm>
            <a:off x="1325880" y="4946904"/>
            <a:ext cx="10149840" cy="868680"/>
          </a:xfrm>
          <a:prstGeom prst="rect">
            <a:avLst/>
          </a:prstGeom>
          <a:solidFill>
            <a:srgbClr val="F6EEEE"/>
          </a:solidFill>
          <a:ln/>
        </p:spPr>
      </p:sp>
      <p:sp>
        <p:nvSpPr>
          <p:cNvPr id="14" name="Text 12"/>
          <p:cNvSpPr/>
          <p:nvPr/>
        </p:nvSpPr>
        <p:spPr>
          <a:xfrm>
            <a:off x="1508760" y="503834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The deploy was dead for one stupid reason — a single secret saved under the wrong NAME. One typo, and the whole safety system sat there looking fine. An afternoon gone.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5–6</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Tests must be self-contained — no live services, no network.</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The suite brings its own isolated world. That’s what makes testing instant, free, and trustworthy. Do this one first.</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Cost us nothing — and that’s the point. Because our tests need no passwords and no internet, the whole safety system was trivial to build and runs in seconds. The one we got right early.</a:t>
            </a:r>
            <a:endParaRPr lang="en-US" sz="1300" dirty="0"/>
          </a:p>
        </p:txBody>
      </p:sp>
      <p:sp>
        <p:nvSpPr>
          <p:cNvPr id="9" name="Shape 7"/>
          <p:cNvSpPr/>
          <p:nvPr/>
        </p:nvSpPr>
        <p:spPr>
          <a:xfrm>
            <a:off x="640080" y="3794760"/>
            <a:ext cx="502920" cy="502920"/>
          </a:xfrm>
          <a:prstGeom prst="rect">
            <a:avLst/>
          </a:prstGeom>
          <a:solidFill>
            <a:srgbClr val="1F3A5F"/>
          </a:solidFill>
          <a:ln/>
        </p:spPr>
      </p:sp>
      <p:sp>
        <p:nvSpPr>
          <p:cNvPr id="10"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11" name="Text 9"/>
          <p:cNvSpPr/>
          <p:nvPr/>
        </p:nvSpPr>
        <p:spPr>
          <a:xfrm>
            <a:off x="1325880" y="377647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Prove the safety net works — by tripping it, once.</a:t>
            </a:r>
            <a:endParaRPr lang="en-US" sz="1900" dirty="0"/>
          </a:p>
        </p:txBody>
      </p:sp>
      <p:sp>
        <p:nvSpPr>
          <p:cNvPr id="12" name="Text 10"/>
          <p:cNvSpPr/>
          <p:nvPr/>
        </p:nvSpPr>
        <p:spPr>
          <a:xfrm>
            <a:off x="1325880" y="425196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Break something deliberately and watch the system refuse to deploy it. Then fix it and watch it ship. Same move for every guard you write after: break what the test watches, confirm it goes red.</a:t>
            </a:r>
            <a:endParaRPr lang="en-US" sz="1450" dirty="0"/>
          </a:p>
        </p:txBody>
      </p:sp>
      <p:sp>
        <p:nvSpPr>
          <p:cNvPr id="13" name="Shape 11"/>
          <p:cNvSpPr/>
          <p:nvPr/>
        </p:nvSpPr>
        <p:spPr>
          <a:xfrm>
            <a:off x="1325880" y="4946904"/>
            <a:ext cx="10149840" cy="868680"/>
          </a:xfrm>
          <a:prstGeom prst="rect">
            <a:avLst/>
          </a:prstGeom>
          <a:solidFill>
            <a:srgbClr val="F6EEEE"/>
          </a:solidFill>
          <a:ln/>
        </p:spPr>
      </p:sp>
      <p:sp>
        <p:nvSpPr>
          <p:cNvPr id="14" name="Text 12"/>
          <p:cNvSpPr/>
          <p:nvPr/>
        </p:nvSpPr>
        <p:spPr>
          <a:xfrm>
            <a:off x="1508760" y="503834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We had “tests that guard deploys” on paper before we watched one block a bad build. Later, one layer down: a guard we trusted passed no matter what we broke — because the value we broke it with was the answer it expected.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 7</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Write it down where someone would look for it.</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A design agreed in conversation and never recorded does not exist. But recording it is only half the job — a record nobody can find is a record that doesn’t exist either. Discoverability is a property of the filename.</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We wrote our decisions down faithfully — into docs/README.md, because that’s the file that was already there. It worked, for us, because we invented the convention and remembered it. Nobody arriving at that repository would ever have found them.</a:t>
            </a:r>
            <a:endParaRPr lang="en-US" sz="1300" dirty="0"/>
          </a:p>
        </p:txBody>
      </p:sp>
      <p:sp>
        <p:nvSpPr>
          <p:cNvPr id="9" name="Shape 7"/>
          <p:cNvSpPr/>
          <p:nvPr/>
        </p:nvSpPr>
        <p:spPr>
          <a:xfrm>
            <a:off x="1325880" y="3977640"/>
            <a:ext cx="10149840" cy="1417320"/>
          </a:xfrm>
          <a:prstGeom prst="rect">
            <a:avLst/>
          </a:prstGeom>
          <a:solidFill>
            <a:srgbClr val="F4F1EA"/>
          </a:solidFill>
          <a:ln/>
        </p:spPr>
      </p:sp>
      <p:sp>
        <p:nvSpPr>
          <p:cNvPr id="10" name="Text 8"/>
          <p:cNvSpPr/>
          <p:nvPr/>
        </p:nvSpPr>
        <p:spPr>
          <a:xfrm>
            <a:off x="1600200" y="4160520"/>
            <a:ext cx="9601200" cy="457200"/>
          </a:xfrm>
          <a:prstGeom prst="rect">
            <a:avLst/>
          </a:prstGeom>
          <a:noFill/>
          <a:ln/>
        </p:spPr>
        <p:txBody>
          <a:bodyPr wrap="square" lIns="0" tIns="0" rIns="0" bIns="0" rtlCol="0" anchor="ctr"/>
          <a:lstStyle/>
          <a:p>
            <a:pPr indent="0" marL="0">
              <a:buNone/>
            </a:pPr>
            <a:r>
              <a:rPr lang="en-US" sz="2100" b="1" dirty="0">
                <a:solidFill>
                  <a:srgbClr val="1F3A5F"/>
                </a:solidFill>
                <a:latin typeface="Cambria" pitchFamily="34" charset="0"/>
                <a:ea typeface="Cambria" pitchFamily="34" charset="-122"/>
                <a:cs typeface="Cambria" pitchFamily="34" charset="-120"/>
              </a:rPr>
              <a:t>A README is a greeting, not a container.</a:t>
            </a:r>
            <a:endParaRPr lang="en-US" sz="2100" dirty="0"/>
          </a:p>
        </p:txBody>
      </p:sp>
      <p:sp>
        <p:nvSpPr>
          <p:cNvPr id="11" name="Text 9"/>
          <p:cNvSpPr/>
          <p:nvPr/>
        </p:nvSpPr>
        <p:spPr>
          <a:xfrm>
            <a:off x="1600200" y="4645152"/>
            <a:ext cx="9601200" cy="640080"/>
          </a:xfrm>
          <a:prstGeom prst="rect">
            <a:avLst/>
          </a:prstGeom>
          <a:noFill/>
          <a:ln/>
        </p:spPr>
        <p:txBody>
          <a:bodyPr wrap="square" lIns="0" tIns="0" rIns="0" bIns="0" rtlCol="0" anchor="ctr"/>
          <a:lstStyle/>
          <a:p>
            <a:pPr indent="0" marL="0">
              <a:buNone/>
            </a:pPr>
            <a:r>
              <a:rPr lang="en-US" sz="1500" dirty="0">
                <a:solidFill>
                  <a:srgbClr val="3A4A5A"/>
                </a:solidFill>
                <a:latin typeface="Calibri" pitchFamily="34" charset="0"/>
                <a:ea typeface="Calibri" pitchFamily="34" charset="-122"/>
                <a:cs typeface="Calibri" pitchFamily="34" charset="-120"/>
              </a:rPr>
              <a:t>So the project carries five named documents — and each one’s name is the whole explanation of what is inside it.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five documents</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Five different questions. A reader arrives with one of them — so give each its own file, named after what it holds.</a:t>
            </a:r>
            <a:endParaRPr lang="en-US" sz="1600" dirty="0"/>
          </a:p>
        </p:txBody>
      </p:sp>
      <p:sp>
        <p:nvSpPr>
          <p:cNvPr id="900" name="Shape 2"/>
          <p:cNvSpPr/>
          <p:nvPr/>
        </p:nvSpPr>
        <p:spPr>
          <a:xfrm>
            <a:off x="640080" y="2057400"/>
            <a:ext cx="2011680" cy="2606040"/>
          </a:xfrm>
          <a:prstGeom prst="rect">
            <a:avLst/>
          </a:prstGeom>
          <a:solidFill>
            <a:srgbClr val="F4F1EA"/>
          </a:solidFill>
          <a:ln/>
        </p:spPr>
      </p:sp>
      <p:sp>
        <p:nvSpPr>
          <p:cNvPr id="901" name="Text 3"/>
          <p:cNvSpPr/>
          <p:nvPr/>
        </p:nvSpPr>
        <p:spPr>
          <a:xfrm>
            <a:off x="822960" y="228600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architecture.md</a:t>
            </a:r>
            <a:endParaRPr lang="en-US" sz="1550" dirty="0"/>
          </a:p>
        </p:txBody>
      </p:sp>
      <p:sp>
        <p:nvSpPr>
          <p:cNvPr id="902" name="Text 4"/>
          <p:cNvSpPr/>
          <p:nvPr/>
        </p:nvSpPr>
        <p:spPr>
          <a:xfrm>
            <a:off x="822960" y="2852928"/>
            <a:ext cx="1645920" cy="164592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The pieces, the boundaries, how data moves, and what is deliberately absent.</a:t>
            </a:r>
            <a:endParaRPr lang="en-US" sz="1250" dirty="0"/>
          </a:p>
          <a:p>
            <a:pPr indent="0" marL="0">
              <a:buNone/>
            </a:pPr>
            <a:endParaRPr lang="en-US" sz="1250" dirty="0"/>
          </a:p>
          <a:p>
            <a:pPr indent="0" marL="0">
              <a:buNone/>
            </a:pPr>
            <a:r>
              <a:rPr lang="en-US" sz="1250" dirty="0">
                <a:solidFill>
                  <a:srgbClr val="3A4A5A"/>
                </a:solidFill>
                <a:latin typeface="Calibri" pitchFamily="34" charset="0"/>
                <a:ea typeface="Calibri" pitchFamily="34" charset="-122"/>
                <a:cs typeface="Calibri" pitchFamily="34" charset="-120"/>
              </a:rPr>
              <a:t>“What am I looking at?”</a:t>
            </a:r>
            <a:endParaRPr lang="en-US" sz="1250" dirty="0"/>
          </a:p>
        </p:txBody>
      </p:sp>
      <p:sp>
        <p:nvSpPr>
          <p:cNvPr id="903" name="Shape 2"/>
          <p:cNvSpPr/>
          <p:nvPr/>
        </p:nvSpPr>
        <p:spPr>
          <a:xfrm>
            <a:off x="2880360" y="2057400"/>
            <a:ext cx="2011680" cy="2606040"/>
          </a:xfrm>
          <a:prstGeom prst="rect">
            <a:avLst/>
          </a:prstGeom>
          <a:solidFill>
            <a:srgbClr val="F4F1EA"/>
          </a:solidFill>
          <a:ln/>
        </p:spPr>
      </p:sp>
      <p:sp>
        <p:nvSpPr>
          <p:cNvPr id="904" name="Text 3"/>
          <p:cNvSpPr/>
          <p:nvPr/>
        </p:nvSpPr>
        <p:spPr>
          <a:xfrm>
            <a:off x="3063240" y="228600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decisions.md</a:t>
            </a:r>
            <a:endParaRPr lang="en-US" sz="1550" dirty="0"/>
          </a:p>
        </p:txBody>
      </p:sp>
      <p:sp>
        <p:nvSpPr>
          <p:cNvPr id="905" name="Text 4"/>
          <p:cNvSpPr/>
          <p:nvPr/>
        </p:nvSpPr>
        <p:spPr>
          <a:xfrm>
            <a:off x="3063240" y="2852928"/>
            <a:ext cx="1645920" cy="164592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D-001, D-002 … what you chose, what forced it, what you rejected, the evidence.</a:t>
            </a:r>
            <a:endParaRPr lang="en-US" sz="1250" dirty="0"/>
          </a:p>
          <a:p>
            <a:pPr indent="0" marL="0">
              <a:buNone/>
            </a:pPr>
            <a:endParaRPr lang="en-US" sz="1250" dirty="0"/>
          </a:p>
          <a:p>
            <a:pPr indent="0" marL="0">
              <a:buNone/>
            </a:pPr>
            <a:r>
              <a:rPr lang="en-US" sz="1250" dirty="0">
                <a:solidFill>
                  <a:srgbClr val="3A4A5A"/>
                </a:solidFill>
                <a:latin typeface="Calibri" pitchFamily="34" charset="0"/>
                <a:ea typeface="Calibri" pitchFamily="34" charset="-122"/>
                <a:cs typeface="Calibri" pitchFamily="34" charset="-120"/>
              </a:rPr>
              <a:t>“Why is it like this?”</a:t>
            </a:r>
            <a:endParaRPr lang="en-US" sz="1250" dirty="0"/>
          </a:p>
        </p:txBody>
      </p:sp>
      <p:sp>
        <p:nvSpPr>
          <p:cNvPr id="906" name="Shape 2"/>
          <p:cNvSpPr/>
          <p:nvPr/>
        </p:nvSpPr>
        <p:spPr>
          <a:xfrm>
            <a:off x="5120640" y="2057400"/>
            <a:ext cx="2011680" cy="2606040"/>
          </a:xfrm>
          <a:prstGeom prst="rect">
            <a:avLst/>
          </a:prstGeom>
          <a:solidFill>
            <a:srgbClr val="F4F1EA"/>
          </a:solidFill>
          <a:ln/>
        </p:spPr>
      </p:sp>
      <p:sp>
        <p:nvSpPr>
          <p:cNvPr id="907" name="Text 3"/>
          <p:cNvSpPr/>
          <p:nvPr/>
        </p:nvSpPr>
        <p:spPr>
          <a:xfrm>
            <a:off x="5303520" y="228600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findings.md</a:t>
            </a:r>
            <a:endParaRPr lang="en-US" sz="1550" dirty="0"/>
          </a:p>
        </p:txBody>
      </p:sp>
      <p:sp>
        <p:nvSpPr>
          <p:cNvPr id="908" name="Text 4"/>
          <p:cNvSpPr/>
          <p:nvPr/>
        </p:nvSpPr>
        <p:spPr>
          <a:xfrm>
            <a:off x="5303520" y="2852928"/>
            <a:ext cx="1645920" cy="164592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What was measured, when, how many observations, and where the raw record is.</a:t>
            </a:r>
            <a:endParaRPr lang="en-US" sz="1250" dirty="0"/>
          </a:p>
          <a:p>
            <a:pPr indent="0" marL="0">
              <a:buNone/>
            </a:pPr>
            <a:endParaRPr lang="en-US" sz="1250" dirty="0"/>
          </a:p>
          <a:p>
            <a:pPr indent="0" marL="0">
              <a:buNone/>
            </a:pPr>
            <a:r>
              <a:rPr lang="en-US" sz="1250" dirty="0">
                <a:solidFill>
                  <a:srgbClr val="3A4A5A"/>
                </a:solidFill>
                <a:latin typeface="Calibri" pitchFamily="34" charset="0"/>
                <a:ea typeface="Calibri" pitchFamily="34" charset="-122"/>
                <a:cs typeface="Calibri" pitchFamily="34" charset="-120"/>
              </a:rPr>
              <a:t>“How do we know?”</a:t>
            </a:r>
            <a:endParaRPr lang="en-US" sz="1250" dirty="0"/>
          </a:p>
        </p:txBody>
      </p:sp>
      <p:sp>
        <p:nvSpPr>
          <p:cNvPr id="909" name="Shape 2"/>
          <p:cNvSpPr/>
          <p:nvPr/>
        </p:nvSpPr>
        <p:spPr>
          <a:xfrm>
            <a:off x="7360920" y="2057400"/>
            <a:ext cx="2011680" cy="2606040"/>
          </a:xfrm>
          <a:prstGeom prst="rect">
            <a:avLst/>
          </a:prstGeom>
          <a:solidFill>
            <a:srgbClr val="F4F1EA"/>
          </a:solidFill>
          <a:ln/>
        </p:spPr>
      </p:sp>
      <p:sp>
        <p:nvSpPr>
          <p:cNvPr id="910" name="Text 3"/>
          <p:cNvSpPr/>
          <p:nvPr/>
        </p:nvSpPr>
        <p:spPr>
          <a:xfrm>
            <a:off x="7543800" y="228600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testplan.md</a:t>
            </a:r>
            <a:endParaRPr lang="en-US" sz="1550" dirty="0"/>
          </a:p>
        </p:txBody>
      </p:sp>
      <p:sp>
        <p:nvSpPr>
          <p:cNvPr id="911" name="Text 4"/>
          <p:cNvSpPr/>
          <p:nvPr/>
        </p:nvSpPr>
        <p:spPr>
          <a:xfrm>
            <a:off x="7543800" y="2852928"/>
            <a:ext cx="1645920" cy="164592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What is covered, what deliberately is not and why, and how each guard was proven able to fail.</a:t>
            </a:r>
            <a:endParaRPr lang="en-US" sz="1250" dirty="0"/>
          </a:p>
          <a:p>
            <a:pPr indent="0" marL="0">
              <a:buNone/>
            </a:pPr>
            <a:endParaRPr lang="en-US" sz="1250" dirty="0"/>
          </a:p>
          <a:p>
            <a:pPr indent="0" marL="0">
              <a:buNone/>
            </a:pPr>
            <a:r>
              <a:rPr lang="en-US" sz="1250" dirty="0">
                <a:solidFill>
                  <a:srgbClr val="3A4A5A"/>
                </a:solidFill>
                <a:latin typeface="Calibri" pitchFamily="34" charset="0"/>
                <a:ea typeface="Calibri" pitchFamily="34" charset="-122"/>
                <a:cs typeface="Calibri" pitchFamily="34" charset="-120"/>
              </a:rPr>
              <a:t>“What would catch it if it broke?”</a:t>
            </a:r>
            <a:endParaRPr lang="en-US" sz="1250" dirty="0"/>
          </a:p>
        </p:txBody>
      </p:sp>
      <p:sp>
        <p:nvSpPr>
          <p:cNvPr id="912" name="Shape 2"/>
          <p:cNvSpPr/>
          <p:nvPr/>
        </p:nvSpPr>
        <p:spPr>
          <a:xfrm>
            <a:off x="9601200" y="2057400"/>
            <a:ext cx="2011680" cy="2606040"/>
          </a:xfrm>
          <a:prstGeom prst="rect">
            <a:avLst/>
          </a:prstGeom>
          <a:solidFill>
            <a:srgbClr val="F4F1EA"/>
          </a:solidFill>
          <a:ln/>
        </p:spPr>
      </p:sp>
      <p:sp>
        <p:nvSpPr>
          <p:cNvPr id="913" name="Text 3"/>
          <p:cNvSpPr/>
          <p:nvPr/>
        </p:nvSpPr>
        <p:spPr>
          <a:xfrm>
            <a:off x="9784080" y="228600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assumptions.md</a:t>
            </a:r>
            <a:endParaRPr lang="en-US" sz="1550" dirty="0"/>
          </a:p>
        </p:txBody>
      </p:sp>
      <p:sp>
        <p:nvSpPr>
          <p:cNvPr id="914" name="Text 4"/>
          <p:cNvSpPr/>
          <p:nvPr/>
        </p:nvSpPr>
        <p:spPr>
          <a:xfrm>
            <a:off x="9784080" y="2852928"/>
            <a:ext cx="1645920" cy="164592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A-001, A-002 … what you are relying on without having decided to. Two bars: state the falsifying test, or it does not go in.</a:t>
            </a:r>
            <a:endParaRPr lang="en-US" sz="1250" dirty="0"/>
          </a:p>
          <a:p>
            <a:pPr indent="0" marL="0">
              <a:buNone/>
            </a:pPr>
            <a:endParaRPr lang="en-US" sz="1250" dirty="0"/>
          </a:p>
          <a:p>
            <a:pPr indent="0" marL="0">
              <a:buNone/>
            </a:pPr>
            <a:r>
              <a:rPr lang="en-US" sz="1250" dirty="0">
                <a:solidFill>
                  <a:srgbClr val="3A4A5A"/>
                </a:solidFill>
                <a:latin typeface="Calibri" pitchFamily="34" charset="0"/>
                <a:ea typeface="Calibri" pitchFamily="34" charset="-122"/>
                <a:cs typeface="Calibri" pitchFamily="34" charset="-120"/>
              </a:rPr>
              <a:t>“What are we taking for granted?”</a:t>
            </a:r>
            <a:endParaRPr lang="en-US" sz="1250" dirty="0"/>
          </a:p>
        </p:txBody>
      </p:sp>
      <p:sp>
        <p:nvSpPr>
          <p:cNvPr id="16" name="Text 14"/>
          <p:cNvSpPr/>
          <p:nvPr/>
        </p:nvSpPr>
        <p:spPr>
          <a:xfrm>
            <a:off x="640080" y="489204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And the emptiness is the point as much as the content: an empty findings.md is legible. A missing findings section inside a README is invisible.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8–9</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8</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Every claim carries how you know it — and a summary is not knowing.</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Before a number goes in the record, name the artefact it came from: the log line, the query, the run link. Carry the sample size with it. Prefer the question whose answer could disqualify you.</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Three claims reversed in one afternoon — every one already written down, every one true as stated and wrong in what it implied. Each was caught only by returning to the raw record.</a:t>
            </a:r>
            <a:endParaRPr lang="en-US" sz="1300" dirty="0"/>
          </a:p>
        </p:txBody>
      </p:sp>
      <p:sp>
        <p:nvSpPr>
          <p:cNvPr id="9" name="Shape 7"/>
          <p:cNvSpPr/>
          <p:nvPr/>
        </p:nvSpPr>
        <p:spPr>
          <a:xfrm>
            <a:off x="640080" y="3794760"/>
            <a:ext cx="502920" cy="502920"/>
          </a:xfrm>
          <a:prstGeom prst="rect">
            <a:avLst/>
          </a:prstGeom>
          <a:solidFill>
            <a:srgbClr val="1F3A5F"/>
          </a:solidFill>
          <a:ln/>
        </p:spPr>
      </p:sp>
      <p:sp>
        <p:nvSpPr>
          <p:cNvPr id="10"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9</a:t>
            </a:r>
            <a:endParaRPr lang="en-US" sz="2400" dirty="0"/>
          </a:p>
        </p:txBody>
      </p:sp>
      <p:sp>
        <p:nvSpPr>
          <p:cNvPr id="11" name="Text 9"/>
          <p:cNvSpPr/>
          <p:nvPr/>
        </p:nvSpPr>
        <p:spPr>
          <a:xfrm>
            <a:off x="1325880" y="377647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A failing check nobody is forced to obey is decoration.</a:t>
            </a:r>
            <a:endParaRPr lang="en-US" sz="1900" dirty="0"/>
          </a:p>
        </p:txBody>
      </p:sp>
      <p:sp>
        <p:nvSpPr>
          <p:cNvPr id="12" name="Text 10"/>
          <p:cNvSpPr/>
          <p:nvPr/>
        </p:nvSpPr>
        <p:spPr>
          <a:xfrm>
            <a:off x="1325880" y="425196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The gate stops the deploy. Only branch protection stops the human. Require the check, require a pull request, allow no bypass — not even for you, the owner.</a:t>
            </a:r>
            <a:endParaRPr lang="en-US" sz="1450" dirty="0"/>
          </a:p>
        </p:txBody>
      </p:sp>
      <p:sp>
        <p:nvSpPr>
          <p:cNvPr id="13" name="Shape 11"/>
          <p:cNvSpPr/>
          <p:nvPr/>
        </p:nvSpPr>
        <p:spPr>
          <a:xfrm>
            <a:off x="1325880" y="4946904"/>
            <a:ext cx="10149840" cy="868680"/>
          </a:xfrm>
          <a:prstGeom prst="rect">
            <a:avLst/>
          </a:prstGeom>
          <a:solidFill>
            <a:srgbClr val="F6EEEE"/>
          </a:solidFill>
          <a:ln/>
        </p:spPr>
      </p:sp>
      <p:sp>
        <p:nvSpPr>
          <p:cNvPr id="14" name="Text 12"/>
          <p:cNvSpPr/>
          <p:nvPr/>
        </p:nvSpPr>
        <p:spPr>
          <a:xfrm>
            <a:off x="1508760" y="503834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Our first deliberately-broken pull request showed a red X and sat there perfectly mergeable. The gate had worked exactly as designed and blocked nothing, because nothing obliged anyone to care.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 10</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Build in the open. Go private when it goes real.</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Public while you build, connected to your Planner. Private once the project is production-stable. The tripwires, whichever comes first: the first real credential, the first real user data, the first live deploy.</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We spent weeks hand-carrying dated archives of our own code into the planning chat every morning, because we’d assumed private was the responsible default. Going public deleted the ritual, the folder of near-identical archives, and an entire class of “the AI is working from a stale copy” bugs — in one setting change.</a:t>
            </a:r>
            <a:endParaRPr lang="en-US" sz="1300" dirty="0"/>
          </a:p>
        </p:txBody>
      </p:sp>
      <p:sp>
        <p:nvSpPr>
          <p:cNvPr id="9" name="Shape 7"/>
          <p:cNvSpPr/>
          <p:nvPr/>
        </p:nvSpPr>
        <p:spPr>
          <a:xfrm>
            <a:off x="1325880" y="3886200"/>
            <a:ext cx="10149840" cy="1143000"/>
          </a:xfrm>
          <a:prstGeom prst="rect">
            <a:avLst/>
          </a:prstGeom>
          <a:solidFill>
            <a:srgbClr val="F4F1EA"/>
          </a:solidFill>
          <a:ln/>
        </p:spPr>
      </p:sp>
      <p:sp>
        <p:nvSpPr>
          <p:cNvPr id="10" name="Text 8"/>
          <p:cNvSpPr/>
          <p:nvPr/>
        </p:nvSpPr>
        <p:spPr>
          <a:xfrm>
            <a:off x="1600200" y="4114800"/>
            <a:ext cx="9601200" cy="73152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The price of public is that nothing secret ever goes in a file — which is Principle 4, now structurally enforced instead of merely intended.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one demo that matters: prove the gate</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Principles 6 and 9, in five moves. This is the moment the whole discipline becomes real — do it once, on day one.</a:t>
            </a:r>
            <a:endParaRPr lang="en-US" sz="1600" dirty="0"/>
          </a:p>
        </p:txBody>
      </p:sp>
      <p:sp>
        <p:nvSpPr>
          <p:cNvPr id="4" name="Shape 2"/>
          <p:cNvSpPr/>
          <p:nvPr/>
        </p:nvSpPr>
        <p:spPr>
          <a:xfrm>
            <a:off x="640080" y="2103120"/>
            <a:ext cx="2011680" cy="2697480"/>
          </a:xfrm>
          <a:prstGeom prst="rect">
            <a:avLst/>
          </a:prstGeom>
          <a:solidFill>
            <a:srgbClr val="F4F1EA"/>
          </a:solidFill>
          <a:ln/>
        </p:spPr>
      </p:sp>
      <p:sp>
        <p:nvSpPr>
          <p:cNvPr id="5" name="Shape 3"/>
          <p:cNvSpPr/>
          <p:nvPr/>
        </p:nvSpPr>
        <p:spPr>
          <a:xfrm>
            <a:off x="822960" y="2286000"/>
            <a:ext cx="566928" cy="566928"/>
          </a:xfrm>
          <a:prstGeom prst="rect">
            <a:avLst/>
          </a:prstGeom>
          <a:solidFill>
            <a:srgbClr val="1F3A5F"/>
          </a:solidFill>
          <a:ln/>
        </p:spPr>
      </p:sp>
      <p:sp>
        <p:nvSpPr>
          <p:cNvPr id="6" name="Text 4"/>
          <p:cNvSpPr/>
          <p:nvPr/>
        </p:nvSpPr>
        <p:spPr>
          <a:xfrm>
            <a:off x="82296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2296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Break it on purpose</a:t>
            </a:r>
            <a:endParaRPr lang="en-US" sz="1550" dirty="0"/>
          </a:p>
        </p:txBody>
      </p:sp>
      <p:sp>
        <p:nvSpPr>
          <p:cNvPr id="8" name="Text 6"/>
          <p:cNvSpPr/>
          <p:nvPr/>
        </p:nvSpPr>
        <p:spPr>
          <a:xfrm>
            <a:off x="82296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Write a test that FAILS. Push it on a branch.</a:t>
            </a:r>
            <a:endParaRPr lang="en-US" sz="1250" dirty="0"/>
          </a:p>
        </p:txBody>
      </p:sp>
      <p:sp>
        <p:nvSpPr>
          <p:cNvPr id="9" name="Shape 7"/>
          <p:cNvSpPr/>
          <p:nvPr/>
        </p:nvSpPr>
        <p:spPr>
          <a:xfrm>
            <a:off x="2880360" y="2103120"/>
            <a:ext cx="2011680" cy="2697480"/>
          </a:xfrm>
          <a:prstGeom prst="rect">
            <a:avLst/>
          </a:prstGeom>
          <a:solidFill>
            <a:srgbClr val="F4F1EA"/>
          </a:solidFill>
          <a:ln/>
        </p:spPr>
      </p:sp>
      <p:sp>
        <p:nvSpPr>
          <p:cNvPr id="10" name="Shape 8"/>
          <p:cNvSpPr/>
          <p:nvPr/>
        </p:nvSpPr>
        <p:spPr>
          <a:xfrm>
            <a:off x="3063240" y="2286000"/>
            <a:ext cx="566928" cy="566928"/>
          </a:xfrm>
          <a:prstGeom prst="rect">
            <a:avLst/>
          </a:prstGeom>
          <a:solidFill>
            <a:srgbClr val="1F3A5F"/>
          </a:solidFill>
          <a:ln/>
        </p:spPr>
      </p:sp>
      <p:sp>
        <p:nvSpPr>
          <p:cNvPr id="11" name="Text 9"/>
          <p:cNvSpPr/>
          <p:nvPr/>
        </p:nvSpPr>
        <p:spPr>
          <a:xfrm>
            <a:off x="306324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06324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Watch it get blocked</a:t>
            </a:r>
            <a:endParaRPr lang="en-US" sz="1550" dirty="0"/>
          </a:p>
        </p:txBody>
      </p:sp>
      <p:sp>
        <p:nvSpPr>
          <p:cNvPr id="13" name="Text 11"/>
          <p:cNvSpPr/>
          <p:nvPr/>
        </p:nvSpPr>
        <p:spPr>
          <a:xfrm>
            <a:off x="306324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The system REFUSES to deploy. (If it ships anyway — your gate is fake.)</a:t>
            </a:r>
            <a:endParaRPr lang="en-US" sz="1250" dirty="0"/>
          </a:p>
        </p:txBody>
      </p:sp>
      <p:sp>
        <p:nvSpPr>
          <p:cNvPr id="14" name="Shape 12"/>
          <p:cNvSpPr/>
          <p:nvPr/>
        </p:nvSpPr>
        <p:spPr>
          <a:xfrm>
            <a:off x="5120640" y="2103120"/>
            <a:ext cx="2011680" cy="2697480"/>
          </a:xfrm>
          <a:prstGeom prst="rect">
            <a:avLst/>
          </a:prstGeom>
          <a:solidFill>
            <a:srgbClr val="F4F1EA"/>
          </a:solidFill>
          <a:ln/>
        </p:spPr>
      </p:sp>
      <p:sp>
        <p:nvSpPr>
          <p:cNvPr id="15" name="Shape 13"/>
          <p:cNvSpPr/>
          <p:nvPr/>
        </p:nvSpPr>
        <p:spPr>
          <a:xfrm>
            <a:off x="5303520" y="2286000"/>
            <a:ext cx="566928" cy="566928"/>
          </a:xfrm>
          <a:prstGeom prst="rect">
            <a:avLst/>
          </a:prstGeom>
          <a:solidFill>
            <a:srgbClr val="1F3A5F"/>
          </a:solidFill>
          <a:ln/>
        </p:spPr>
      </p:sp>
      <p:sp>
        <p:nvSpPr>
          <p:cNvPr id="16" name="Text 14"/>
          <p:cNvSpPr/>
          <p:nvPr/>
        </p:nvSpPr>
        <p:spPr>
          <a:xfrm>
            <a:off x="530352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530352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Try to override it</a:t>
            </a:r>
            <a:endParaRPr lang="en-US" sz="1550" dirty="0"/>
          </a:p>
        </p:txBody>
      </p:sp>
      <p:sp>
        <p:nvSpPr>
          <p:cNvPr id="18" name="Text 16"/>
          <p:cNvSpPr/>
          <p:nvPr/>
        </p:nvSpPr>
        <p:spPr>
          <a:xfrm>
            <a:off x="530352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Scroll to Merge. It reads BLOCKED — for you, the owner.</a:t>
            </a:r>
            <a:endParaRPr lang="en-US" sz="1250" dirty="0"/>
          </a:p>
        </p:txBody>
      </p:sp>
      <p:sp>
        <p:nvSpPr>
          <p:cNvPr id="19" name="Shape 17"/>
          <p:cNvSpPr/>
          <p:nvPr/>
        </p:nvSpPr>
        <p:spPr>
          <a:xfrm>
            <a:off x="7360920" y="2103120"/>
            <a:ext cx="2011680" cy="2697480"/>
          </a:xfrm>
          <a:prstGeom prst="rect">
            <a:avLst/>
          </a:prstGeom>
          <a:solidFill>
            <a:srgbClr val="F4F1EA"/>
          </a:solidFill>
          <a:ln/>
        </p:spPr>
      </p:sp>
      <p:sp>
        <p:nvSpPr>
          <p:cNvPr id="20" name="Shape 18"/>
          <p:cNvSpPr/>
          <p:nvPr/>
        </p:nvSpPr>
        <p:spPr>
          <a:xfrm>
            <a:off x="7543800" y="2286000"/>
            <a:ext cx="566928" cy="566928"/>
          </a:xfrm>
          <a:prstGeom prst="rect">
            <a:avLst/>
          </a:prstGeom>
          <a:solidFill>
            <a:srgbClr val="1F3A5F"/>
          </a:solidFill>
          <a:ln/>
        </p:spPr>
      </p:sp>
      <p:sp>
        <p:nvSpPr>
          <p:cNvPr id="21" name="Text 19"/>
          <p:cNvSpPr/>
          <p:nvPr/>
        </p:nvSpPr>
        <p:spPr>
          <a:xfrm>
            <a:off x="754380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754380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Fix it</a:t>
            </a:r>
            <a:endParaRPr lang="en-US" sz="1550" dirty="0"/>
          </a:p>
        </p:txBody>
      </p:sp>
      <p:sp>
        <p:nvSpPr>
          <p:cNvPr id="23" name="Text 21"/>
          <p:cNvSpPr/>
          <p:nvPr/>
        </p:nvSpPr>
        <p:spPr>
          <a:xfrm>
            <a:off x="754380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Correct the test so it passes. Merge it.</a:t>
            </a:r>
            <a:endParaRPr lang="en-US" sz="1250" dirty="0"/>
          </a:p>
        </p:txBody>
      </p:sp>
      <p:sp>
        <p:nvSpPr>
          <p:cNvPr id="24" name="Shape 22"/>
          <p:cNvSpPr/>
          <p:nvPr/>
        </p:nvSpPr>
        <p:spPr>
          <a:xfrm>
            <a:off x="9601200" y="2103120"/>
            <a:ext cx="2011680" cy="2697480"/>
          </a:xfrm>
          <a:prstGeom prst="rect">
            <a:avLst/>
          </a:prstGeom>
          <a:solidFill>
            <a:srgbClr val="F4F1EA"/>
          </a:solidFill>
          <a:ln/>
        </p:spPr>
      </p:sp>
      <p:sp>
        <p:nvSpPr>
          <p:cNvPr id="25" name="Shape 23"/>
          <p:cNvSpPr/>
          <p:nvPr/>
        </p:nvSpPr>
        <p:spPr>
          <a:xfrm>
            <a:off x="9784080" y="2286000"/>
            <a:ext cx="566928" cy="566928"/>
          </a:xfrm>
          <a:prstGeom prst="rect">
            <a:avLst/>
          </a:prstGeom>
          <a:solidFill>
            <a:srgbClr val="1F3A5F"/>
          </a:solidFill>
          <a:ln/>
        </p:spPr>
      </p:sp>
      <p:sp>
        <p:nvSpPr>
          <p:cNvPr id="26" name="Text 24"/>
          <p:cNvSpPr/>
          <p:nvPr/>
        </p:nvSpPr>
        <p:spPr>
          <a:xfrm>
            <a:off x="978408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978408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Watch it ship</a:t>
            </a:r>
            <a:endParaRPr lang="en-US" sz="1550" dirty="0"/>
          </a:p>
        </p:txBody>
      </p:sp>
      <p:sp>
        <p:nvSpPr>
          <p:cNvPr id="28" name="Text 26"/>
          <p:cNvSpPr/>
          <p:nvPr/>
        </p:nvSpPr>
        <p:spPr>
          <a:xfrm>
            <a:off x="978408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This time it deploys — through the front door.</a:t>
            </a:r>
            <a:endParaRPr lang="en-US" sz="1250" dirty="0"/>
          </a:p>
        </p:txBody>
      </p:sp>
      <p:sp>
        <p:nvSpPr>
          <p:cNvPr id="29" name="Text 27"/>
          <p:cNvSpPr/>
          <p:nvPr/>
        </p:nvSpPr>
        <p:spPr>
          <a:xfrm>
            <a:off x="640080" y="498348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The gate stops the machine. Branch protection stops the human. You need both — and a net you’ve never seen fire is a hope, not a guarantee.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move that makes it stick</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The temptation to skip the Keel is strongest at the exact instant you start planning with an AI — planning is the fun part. Willpower loses that fight.</a:t>
            </a:r>
            <a:endParaRPr lang="en-US" sz="1600" dirty="0"/>
          </a:p>
        </p:txBody>
      </p:sp>
      <p:sp>
        <p:nvSpPr>
          <p:cNvPr id="4" name="Text 2"/>
          <p:cNvSpPr/>
          <p:nvPr/>
        </p:nvSpPr>
        <p:spPr>
          <a:xfrm>
            <a:off x="640080" y="1874520"/>
            <a:ext cx="10972800" cy="548640"/>
          </a:xfrm>
          <a:prstGeom prst="rect">
            <a:avLst/>
          </a:prstGeom>
          <a:noFill/>
          <a:ln/>
        </p:spPr>
        <p:txBody>
          <a:bodyPr wrap="square" lIns="0" tIns="0" rIns="0" bIns="0" rtlCol="0" anchor="ctr"/>
          <a:lstStyle/>
          <a:p>
            <a:pPr indent="0" marL="0">
              <a:buNone/>
            </a:pPr>
            <a:r>
              <a:rPr lang="en-US" sz="2400" b="1" dirty="0">
                <a:solidFill>
                  <a:srgbClr val="1F3A5F"/>
                </a:solidFill>
                <a:latin typeface="Cambria" pitchFamily="34" charset="0"/>
                <a:ea typeface="Cambria" pitchFamily="34" charset="-122"/>
                <a:cs typeface="Cambria" pitchFamily="34" charset="-120"/>
              </a:rPr>
              <a:t>Move the enforcement earlier than the temptation.</a:t>
            </a:r>
            <a:endParaRPr lang="en-US" sz="2400" dirty="0"/>
          </a:p>
        </p:txBody>
      </p:sp>
      <p:sp>
        <p:nvSpPr>
          <p:cNvPr id="5" name="Shape 3"/>
          <p:cNvSpPr/>
          <p:nvPr/>
        </p:nvSpPr>
        <p:spPr>
          <a:xfrm>
            <a:off x="640080" y="2651760"/>
            <a:ext cx="5372100" cy="1965960"/>
          </a:xfrm>
          <a:prstGeom prst="rect">
            <a:avLst/>
          </a:prstGeom>
          <a:solidFill>
            <a:srgbClr val="F4F1EA"/>
          </a:solidFill>
          <a:ln/>
        </p:spPr>
      </p:sp>
      <p:sp>
        <p:nvSpPr>
          <p:cNvPr id="6" name="Text 4"/>
          <p:cNvSpPr/>
          <p:nvPr/>
        </p:nvSpPr>
        <p:spPr>
          <a:xfrm>
            <a:off x="822960" y="2880360"/>
            <a:ext cx="500634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Make starting right take 30 seconds</a:t>
            </a:r>
            <a:endParaRPr lang="en-US" sz="1550" dirty="0"/>
          </a:p>
        </p:txBody>
      </p:sp>
      <p:sp>
        <p:nvSpPr>
          <p:cNvPr id="7" name="Text 5"/>
          <p:cNvSpPr/>
          <p:nvPr/>
        </p:nvSpPr>
        <p:spPr>
          <a:xfrm>
            <a:off x="822960" y="3447288"/>
            <a:ext cx="5006340" cy="100584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A template or script that lays the whole Keel in one step — including the five empty documents with their headings already in place. The right way becomes the easy way.</a:t>
            </a:r>
            <a:endParaRPr lang="en-US" sz="1250" dirty="0"/>
          </a:p>
        </p:txBody>
      </p:sp>
      <p:sp>
        <p:nvSpPr>
          <p:cNvPr id="8" name="Shape 6"/>
          <p:cNvSpPr/>
          <p:nvPr/>
        </p:nvSpPr>
        <p:spPr>
          <a:xfrm>
            <a:off x="6240780" y="2651760"/>
            <a:ext cx="5372100" cy="1965960"/>
          </a:xfrm>
          <a:prstGeom prst="rect">
            <a:avLst/>
          </a:prstGeom>
          <a:solidFill>
            <a:srgbClr val="F4F1EA"/>
          </a:solidFill>
          <a:ln/>
        </p:spPr>
      </p:sp>
      <p:sp>
        <p:nvSpPr>
          <p:cNvPr id="9" name="Text 7"/>
          <p:cNvSpPr/>
          <p:nvPr/>
        </p:nvSpPr>
        <p:spPr>
          <a:xfrm>
            <a:off x="6423660" y="2880360"/>
            <a:ext cx="500634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Give the AI a standing order</a:t>
            </a:r>
            <a:endParaRPr lang="en-US" sz="1550" dirty="0"/>
          </a:p>
        </p:txBody>
      </p:sp>
      <p:sp>
        <p:nvSpPr>
          <p:cNvPr id="10" name="Text 8"/>
          <p:cNvSpPr/>
          <p:nvPr/>
        </p:nvSpPr>
        <p:spPr>
          <a:xfrm>
            <a:off x="6423660" y="3447288"/>
            <a:ext cx="5006340" cy="100584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“Before we design anything, confirm the foundation exists — and if it doesn’t, stop and build it first.”</a:t>
            </a:r>
            <a:endParaRPr lang="en-US" sz="1250" dirty="0"/>
          </a:p>
        </p:txBody>
      </p:sp>
      <p:sp>
        <p:nvSpPr>
          <p:cNvPr id="11" name="Text 9"/>
          <p:cNvSpPr/>
          <p:nvPr/>
        </p:nvSpPr>
        <p:spPr>
          <a:xfrm>
            <a:off x="640080" y="484632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You turn the thing that tempts you to skip the Keel into the thing that guards it.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daily rituals — and they are YOUR job</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The hardest part of a long project isn’t any single day — it’s picking the work back up without losing the thread. Nothing enforces these. No gate, no test, no red X. Neither AI can run them: neither has a clock, and neither knows the day ended.</a:t>
            </a:r>
            <a:endParaRPr lang="en-US" sz="1600" dirty="0"/>
          </a:p>
        </p:txBody>
      </p:sp>
      <p:sp>
        <p:nvSpPr>
          <p:cNvPr id="4" name="Text 2"/>
          <p:cNvSpPr/>
          <p:nvPr/>
        </p:nvSpPr>
        <p:spPr>
          <a:xfrm>
            <a:off x="640080" y="1783080"/>
            <a:ext cx="10972800" cy="41148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Your continuity does not live in the conversation. It lives in the repository.</a:t>
            </a:r>
            <a:endParaRPr lang="en-US" sz="1800" dirty="0"/>
          </a:p>
        </p:txBody>
      </p:sp>
      <p:sp>
        <p:nvSpPr>
          <p:cNvPr id="5" name="Shape 3"/>
          <p:cNvSpPr/>
          <p:nvPr/>
        </p:nvSpPr>
        <p:spPr>
          <a:xfrm>
            <a:off x="640080" y="2286000"/>
            <a:ext cx="5148072" cy="2880360"/>
          </a:xfrm>
          <a:prstGeom prst="rect">
            <a:avLst/>
          </a:prstGeom>
          <a:solidFill>
            <a:srgbClr val="F4F1EA"/>
          </a:solidFill>
          <a:ln/>
        </p:spPr>
      </p:sp>
      <p:sp>
        <p:nvSpPr>
          <p:cNvPr id="6" name="Text 4"/>
          <p:cNvSpPr/>
          <p:nvPr/>
        </p:nvSpPr>
        <p:spPr>
          <a:xfrm>
            <a:off x="932688" y="2542032"/>
            <a:ext cx="4572000" cy="320040"/>
          </a:xfrm>
          <a:prstGeom prst="rect">
            <a:avLst/>
          </a:prstGeom>
          <a:noFill/>
          <a:ln/>
        </p:spPr>
        <p:txBody>
          <a:bodyPr wrap="square" lIns="0" tIns="0" rIns="0" bIns="0" rtlCol="0" anchor="ctr"/>
          <a:lstStyle/>
          <a:p>
            <a:pPr indent="0" marL="0">
              <a:buNone/>
            </a:pPr>
            <a:r>
              <a:rPr lang="en-US" sz="1300" b="1" spc="150" kern="0" dirty="0">
                <a:solidFill>
                  <a:srgbClr val="1F3A5F"/>
                </a:solidFill>
                <a:latin typeface="Calibri" pitchFamily="34" charset="0"/>
                <a:ea typeface="Calibri" pitchFamily="34" charset="-122"/>
                <a:cs typeface="Calibri" pitchFamily="34" charset="-120"/>
              </a:rPr>
              <a:t>POST-FLIGHT — END OF SESSION</a:t>
            </a:r>
            <a:endParaRPr lang="en-US" sz="1300" dirty="0"/>
          </a:p>
        </p:txBody>
      </p:sp>
      <p:sp>
        <p:nvSpPr>
          <p:cNvPr id="7" name="Text 5"/>
          <p:cNvSpPr/>
          <p:nvPr/>
        </p:nvSpPr>
        <p:spPr>
          <a:xfrm>
            <a:off x="932688" y="290779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Commit the baton</a:t>
            </a:r>
            <a:endParaRPr lang="en-US" sz="1500" dirty="0"/>
          </a:p>
        </p:txBody>
      </p:sp>
      <p:sp>
        <p:nvSpPr>
          <p:cNvPr id="8" name="Text 6"/>
          <p:cNvSpPr/>
          <p:nvPr/>
        </p:nvSpPr>
        <p:spPr>
          <a:xfrm>
            <a:off x="932688" y="3429000"/>
            <a:ext cx="4572000" cy="146304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Have your AI write a session close-out: what got done, what’s open, what’s next.</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Then ask the question that keeps the five documents alive: “which of the five changed today?”</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Commit all of it. Uncommitted work is invisible to the Planner.</a:t>
            </a:r>
            <a:endParaRPr lang="en-US" sz="1350" dirty="0"/>
          </a:p>
        </p:txBody>
      </p:sp>
      <p:sp>
        <p:nvSpPr>
          <p:cNvPr id="9" name="Shape 7"/>
          <p:cNvSpPr/>
          <p:nvPr/>
        </p:nvSpPr>
        <p:spPr>
          <a:xfrm>
            <a:off x="6400800" y="2286000"/>
            <a:ext cx="5148072" cy="2880360"/>
          </a:xfrm>
          <a:prstGeom prst="rect">
            <a:avLst/>
          </a:prstGeom>
          <a:solidFill>
            <a:srgbClr val="F4F1EA"/>
          </a:solidFill>
          <a:ln/>
        </p:spPr>
      </p:sp>
      <p:sp>
        <p:nvSpPr>
          <p:cNvPr id="10" name="Text 8"/>
          <p:cNvSpPr/>
          <p:nvPr/>
        </p:nvSpPr>
        <p:spPr>
          <a:xfrm>
            <a:off x="6693408" y="2542032"/>
            <a:ext cx="4572000" cy="320040"/>
          </a:xfrm>
          <a:prstGeom prst="rect">
            <a:avLst/>
          </a:prstGeom>
          <a:noFill/>
          <a:ln/>
        </p:spPr>
        <p:txBody>
          <a:bodyPr wrap="square" lIns="0" tIns="0" rIns="0" bIns="0" rtlCol="0" anchor="ctr"/>
          <a:lstStyle/>
          <a:p>
            <a:pPr indent="0" marL="0">
              <a:buNone/>
            </a:pPr>
            <a:r>
              <a:rPr lang="en-US" sz="1300" b="1" spc="150" kern="0" dirty="0">
                <a:solidFill>
                  <a:srgbClr val="7A2E2E"/>
                </a:solidFill>
                <a:latin typeface="Calibri" pitchFamily="34" charset="0"/>
                <a:ea typeface="Calibri" pitchFamily="34" charset="-122"/>
                <a:cs typeface="Calibri" pitchFamily="34" charset="-120"/>
              </a:rPr>
              <a:t>PRE-FLIGHT — START OF SESSION</a:t>
            </a:r>
            <a:endParaRPr lang="en-US" sz="1300" dirty="0"/>
          </a:p>
        </p:txBody>
      </p:sp>
      <p:sp>
        <p:nvSpPr>
          <p:cNvPr id="11" name="Text 9"/>
          <p:cNvSpPr/>
          <p:nvPr/>
        </p:nvSpPr>
        <p:spPr>
          <a:xfrm>
            <a:off x="6693408" y="290779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Start fresh, upload nothing</a:t>
            </a:r>
            <a:endParaRPr lang="en-US" sz="1500" dirty="0"/>
          </a:p>
        </p:txBody>
      </p:sp>
      <p:sp>
        <p:nvSpPr>
          <p:cNvPr id="12" name="Text 10"/>
          <p:cNvSpPr/>
          <p:nvPr/>
        </p:nvSpPr>
        <p:spPr>
          <a:xfrm>
            <a:off x="6693408" y="3429000"/>
            <a:ext cx="4572000" cy="146304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Start a BRAND-NEW chat — not yesterday’s.</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Upload nothing. The Planner is connected to the repository and already reads your real, current code.</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Then ask for a REPORTED grounding block, not a summary: highest entry number in each log, quoted from the header · open items read as output · live repo or snapshot, and what each can prove.</a:t>
            </a:r>
            <a:endParaRPr lang="en-US" sz="1350" dirty="0"/>
          </a:p>
        </p:txBody>
      </p:sp>
      <p:sp>
        <p:nvSpPr>
          <p:cNvPr id="13" name="Text 11"/>
          <p:cNvSpPr/>
          <p:nvPr/>
        </p:nvSpPr>
        <p:spPr>
          <a:xfrm>
            <a:off x="640080" y="530352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One session ran a week instead of closing daily. Nine documents dated the 6th and 7th landed on the 16th — including the rule deciding what the whole project is about. Nothing was lost. Either that was luck, or something is sitting there undetected, and from the inside those look alike.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this is ours to teach</a:t>
            </a:r>
            <a:endParaRPr lang="en-US" sz="3200" dirty="0"/>
          </a:p>
        </p:txBody>
      </p:sp>
      <p:sp>
        <p:nvSpPr>
          <p:cNvPr id="3" name="Text 1"/>
          <p:cNvSpPr/>
          <p:nvPr/>
        </p:nvSpPr>
        <p:spPr>
          <a:xfrm>
            <a:off x="640080" y="1600200"/>
            <a:ext cx="10972800" cy="1005840"/>
          </a:xfrm>
          <a:prstGeom prst="rect">
            <a:avLst/>
          </a:prstGeom>
          <a:noFill/>
          <a:ln/>
        </p:spPr>
        <p:txBody>
          <a:bodyPr wrap="square" lIns="0" tIns="0" rIns="0" bIns="0" rtlCol="0" anchor="t"/>
          <a:lstStyle/>
          <a:p>
            <a:pPr indent="0" marL="0">
              <a:buNone/>
            </a:pPr>
            <a:r>
              <a:rPr lang="en-US" sz="2000" dirty="0">
                <a:solidFill>
                  <a:srgbClr val="3A4A5A"/>
                </a:solidFill>
                <a:latin typeface="Calibri" pitchFamily="34" charset="0"/>
                <a:ea typeface="Calibri" pitchFamily="34" charset="-122"/>
                <a:cs typeface="Calibri" pitchFamily="34" charset="-120"/>
              </a:rPr>
              <a:t>None of this is about being a programmer. It is about refusing to build on sand, insisting on ground truth before action, and writing down your reasoning so it outlives the moment.</a:t>
            </a:r>
            <a:endParaRPr lang="en-US" sz="2000" dirty="0"/>
          </a:p>
        </p:txBody>
      </p:sp>
      <p:sp>
        <p:nvSpPr>
          <p:cNvPr id="4" name="Text 2"/>
          <p:cNvSpPr/>
          <p:nvPr/>
        </p:nvSpPr>
        <p:spPr>
          <a:xfrm>
            <a:off x="640080" y="2743200"/>
            <a:ext cx="1097280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Judgment, in other words.</a:t>
            </a:r>
            <a:endParaRPr lang="en-US" sz="3400" dirty="0"/>
          </a:p>
        </p:txBody>
      </p:sp>
      <p:sp>
        <p:nvSpPr>
          <p:cNvPr id="5" name="Shape 3"/>
          <p:cNvSpPr/>
          <p:nvPr/>
        </p:nvSpPr>
        <p:spPr>
          <a:xfrm>
            <a:off x="640080" y="3749040"/>
            <a:ext cx="10972800" cy="1188720"/>
          </a:xfrm>
          <a:prstGeom prst="rect">
            <a:avLst/>
          </a:prstGeom>
          <a:solidFill>
            <a:srgbClr val="F4F1EA"/>
          </a:solidFill>
          <a:ln/>
        </p:spPr>
      </p:sp>
      <p:sp>
        <p:nvSpPr>
          <p:cNvPr id="6" name="Text 4"/>
          <p:cNvSpPr/>
          <p:nvPr/>
        </p:nvSpPr>
        <p:spPr>
          <a:xfrm>
            <a:off x="960120" y="4023360"/>
            <a:ext cx="10332720" cy="731520"/>
          </a:xfrm>
          <a:prstGeom prst="rect">
            <a:avLst/>
          </a:prstGeom>
          <a:noFill/>
          <a:ln/>
        </p:spPr>
        <p:txBody>
          <a:bodyPr wrap="square" lIns="0" tIns="0" rIns="0" bIns="0" rtlCol="0" anchor="t"/>
          <a:lstStyle/>
          <a:p>
            <a:pPr indent="0" marL="0">
              <a:buNone/>
            </a:pPr>
            <a:r>
              <a:rPr lang="en-US" sz="1900" b="1" dirty="0">
                <a:solidFill>
                  <a:srgbClr val="1F3A5F"/>
                </a:solidFill>
                <a:latin typeface="Calibri" pitchFamily="34" charset="0"/>
                <a:ea typeface="Calibri" pitchFamily="34" charset="-122"/>
                <a:cs typeface="Calibri" pitchFamily="34" charset="-120"/>
              </a:rPr>
              <a:t>A long working life is where judgment comes from. The tools have finally caught up to the people who have it.</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reversal</a:t>
            </a:r>
            <a:endParaRPr lang="en-US" sz="3200" dirty="0"/>
          </a:p>
        </p:txBody>
      </p:sp>
      <p:sp>
        <p:nvSpPr>
          <p:cNvPr id="3" name="Text 1"/>
          <p:cNvSpPr/>
          <p:nvPr/>
        </p:nvSpPr>
        <p:spPr>
          <a:xfrm>
            <a:off x="640080" y="1463040"/>
            <a:ext cx="10972800" cy="45720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Doing it right — the full discipline — used to be a luxury.</a:t>
            </a:r>
            <a:endParaRPr lang="en-US" sz="2200" dirty="0"/>
          </a:p>
        </p:txBody>
      </p:sp>
      <p:sp>
        <p:nvSpPr>
          <p:cNvPr id="4" name="Text 2"/>
          <p:cNvSpPr/>
          <p:nvPr/>
        </p:nvSpPr>
        <p:spPr>
          <a:xfrm>
            <a:off x="640080" y="1965960"/>
            <a:ext cx="10972800" cy="777240"/>
          </a:xfrm>
          <a:prstGeom prst="rect">
            <a:avLst/>
          </a:prstGeom>
          <a:noFill/>
          <a:ln/>
        </p:spPr>
        <p:txBody>
          <a:bodyPr wrap="square" lIns="0" tIns="0" rIns="0" bIns="0" rtlCol="0" anchor="t"/>
          <a:lstStyle/>
          <a:p>
            <a:pPr indent="0" marL="0">
              <a:buNone/>
            </a:pPr>
            <a:r>
              <a:rPr lang="en-US" sz="1600" dirty="0">
                <a:solidFill>
                  <a:srgbClr val="3A4A5A"/>
                </a:solidFill>
                <a:latin typeface="Calibri" pitchFamily="34" charset="0"/>
                <a:ea typeface="Calibri" pitchFamily="34" charset="-122"/>
                <a:cs typeface="Calibri" pitchFamily="34" charset="-120"/>
              </a:rPr>
              <a:t>Writing the tests first. Documenting the decision. Setting up the gate on day one. It all cost senior-engineer hours a deadline wouldn’t spend — so it got skipped. The skip was almost rational.</a:t>
            </a:r>
            <a:endParaRPr lang="en-US" sz="1600" dirty="0"/>
          </a:p>
        </p:txBody>
      </p:sp>
      <p:sp>
        <p:nvSpPr>
          <p:cNvPr id="5" name="Text 3"/>
          <p:cNvSpPr/>
          <p:nvPr/>
        </p:nvSpPr>
        <p:spPr>
          <a:xfrm>
            <a:off x="640080" y="2834640"/>
            <a:ext cx="10972800" cy="502920"/>
          </a:xfrm>
          <a:prstGeom prst="rect">
            <a:avLst/>
          </a:prstGeom>
          <a:noFill/>
          <a:ln/>
        </p:spPr>
        <p:txBody>
          <a:bodyPr wrap="square" lIns="0" tIns="0" rIns="0" bIns="0" rtlCol="0" anchor="ctr"/>
          <a:lstStyle/>
          <a:p>
            <a:pPr indent="0" marL="0">
              <a:buNone/>
            </a:pPr>
            <a:r>
              <a:rPr lang="en-US" sz="2600" b="1" dirty="0">
                <a:solidFill>
                  <a:srgbClr val="7A2E2E"/>
                </a:solidFill>
                <a:latin typeface="Cambria" pitchFamily="34" charset="0"/>
                <a:ea typeface="Cambria" pitchFamily="34" charset="-122"/>
                <a:cs typeface="Cambria" pitchFamily="34" charset="-120"/>
              </a:rPr>
              <a:t>Not anymore.</a:t>
            </a:r>
            <a:endParaRPr lang="en-US" sz="2600" dirty="0"/>
          </a:p>
        </p:txBody>
      </p:sp>
      <p:sp>
        <p:nvSpPr>
          <p:cNvPr id="6" name="Text 4"/>
          <p:cNvSpPr/>
          <p:nvPr/>
        </p:nvSpPr>
        <p:spPr>
          <a:xfrm>
            <a:off x="640080" y="3429000"/>
            <a:ext cx="10972800" cy="777240"/>
          </a:xfrm>
          <a:prstGeom prst="rect">
            <a:avLst/>
          </a:prstGeom>
          <a:noFill/>
          <a:ln/>
        </p:spPr>
        <p:txBody>
          <a:bodyPr wrap="square" lIns="0" tIns="0" rIns="0" bIns="0" rtlCol="0" anchor="t"/>
          <a:lstStyle/>
          <a:p>
            <a:pPr indent="0" marL="0">
              <a:buNone/>
            </a:pPr>
            <a:r>
              <a:rPr lang="en-US" sz="1600" dirty="0">
                <a:solidFill>
                  <a:srgbClr val="3A4A5A"/>
                </a:solidFill>
                <a:latin typeface="Calibri" pitchFamily="34" charset="0"/>
                <a:ea typeface="Calibri" pitchFamily="34" charset="-122"/>
                <a:cs typeface="Calibri" pitchFamily="34" charset="-120"/>
              </a:rPr>
              <a:t>The AI scaffolds the tests in a minute, writes them from your design, drafts the close-out for free. The cost of the discipline just collapsed toward zero — while its value stayed exactly as high.</a:t>
            </a:r>
            <a:endParaRPr lang="en-US" sz="1600" dirty="0"/>
          </a:p>
        </p:txBody>
      </p:sp>
      <p:sp>
        <p:nvSpPr>
          <p:cNvPr id="7" name="Shape 5"/>
          <p:cNvSpPr/>
          <p:nvPr/>
        </p:nvSpPr>
        <p:spPr>
          <a:xfrm>
            <a:off x="640080" y="4343400"/>
            <a:ext cx="10972800" cy="914400"/>
          </a:xfrm>
          <a:prstGeom prst="rect">
            <a:avLst/>
          </a:prstGeom>
          <a:solidFill>
            <a:srgbClr val="F4F1EA"/>
          </a:solidFill>
          <a:ln/>
        </p:spPr>
      </p:sp>
      <p:sp>
        <p:nvSpPr>
          <p:cNvPr id="8" name="Text 6"/>
          <p:cNvSpPr/>
          <p:nvPr/>
        </p:nvSpPr>
        <p:spPr>
          <a:xfrm>
            <a:off x="960120" y="4553712"/>
            <a:ext cx="10332720" cy="54864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Most people are using AI to skip the discipline faster. You can finally afford to keep it.</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this works where corporate process dies</a:t>
            </a:r>
            <a:endParaRPr lang="en-US" sz="3200" dirty="0"/>
          </a:p>
        </p:txBody>
      </p:sp>
      <p:sp>
        <p:nvSpPr>
          <p:cNvPr id="3" name="Shape 1"/>
          <p:cNvSpPr/>
          <p:nvPr/>
        </p:nvSpPr>
        <p:spPr>
          <a:xfrm>
            <a:off x="640080" y="1691640"/>
            <a:ext cx="5148072" cy="3017520"/>
          </a:xfrm>
          <a:prstGeom prst="rect">
            <a:avLst/>
          </a:prstGeom>
          <a:solidFill>
            <a:srgbClr val="F4F1EA"/>
          </a:solidFill>
          <a:ln/>
        </p:spPr>
      </p:sp>
      <p:sp>
        <p:nvSpPr>
          <p:cNvPr id="4" name="Text 2"/>
          <p:cNvSpPr/>
          <p:nvPr/>
        </p:nvSpPr>
        <p:spPr>
          <a:xfrm>
            <a:off x="932688" y="1947672"/>
            <a:ext cx="4572000" cy="320040"/>
          </a:xfrm>
          <a:prstGeom prst="rect">
            <a:avLst/>
          </a:prstGeom>
          <a:noFill/>
          <a:ln/>
        </p:spPr>
        <p:txBody>
          <a:bodyPr wrap="square" lIns="0" tIns="0" rIns="0" bIns="0" rtlCol="0" anchor="ctr"/>
          <a:lstStyle/>
          <a:p>
            <a:pPr indent="0" marL="0">
              <a:buNone/>
            </a:pPr>
            <a:r>
              <a:rPr lang="en-US" sz="1300" b="1" spc="150" kern="0" dirty="0">
                <a:solidFill>
                  <a:srgbClr val="1F3A5F"/>
                </a:solidFill>
                <a:latin typeface="Calibri" pitchFamily="34" charset="0"/>
                <a:ea typeface="Calibri" pitchFamily="34" charset="-122"/>
                <a:cs typeface="Calibri" pitchFamily="34" charset="-120"/>
              </a:rPr>
              <a:t>PROCESS DONE TO YOU</a:t>
            </a:r>
            <a:endParaRPr lang="en-US" sz="1300" dirty="0"/>
          </a:p>
        </p:txBody>
      </p:sp>
      <p:sp>
        <p:nvSpPr>
          <p:cNvPr id="5" name="Text 3"/>
          <p:cNvSpPr/>
          <p:nvPr/>
        </p:nvSpPr>
        <p:spPr>
          <a:xfrm>
            <a:off x="932688" y="231343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Ceremony imposed from above</a:t>
            </a:r>
            <a:endParaRPr lang="en-US" sz="1500" dirty="0"/>
          </a:p>
        </p:txBody>
      </p:sp>
      <p:sp>
        <p:nvSpPr>
          <p:cNvPr id="6" name="Text 4"/>
          <p:cNvSpPr/>
          <p:nvPr/>
        </p:nvSpPr>
        <p:spPr>
          <a:xfrm>
            <a:off x="932688" y="2834640"/>
            <a:ext cx="4572000" cy="160020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In a big company, “process” becomes sign-off gates, mandatory fields, rituals nobody believes in.</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So people comply — or quietly route around it.</a:t>
            </a:r>
            <a:endParaRPr lang="en-US" sz="1350" dirty="0"/>
          </a:p>
        </p:txBody>
      </p:sp>
      <p:sp>
        <p:nvSpPr>
          <p:cNvPr id="7" name="Shape 5"/>
          <p:cNvSpPr/>
          <p:nvPr/>
        </p:nvSpPr>
        <p:spPr>
          <a:xfrm>
            <a:off x="6400800" y="1691640"/>
            <a:ext cx="5148072" cy="3017520"/>
          </a:xfrm>
          <a:prstGeom prst="rect">
            <a:avLst/>
          </a:prstGeom>
          <a:solidFill>
            <a:srgbClr val="F4F1EA"/>
          </a:solidFill>
          <a:ln/>
        </p:spPr>
      </p:sp>
      <p:sp>
        <p:nvSpPr>
          <p:cNvPr id="8" name="Text 6"/>
          <p:cNvSpPr/>
          <p:nvPr/>
        </p:nvSpPr>
        <p:spPr>
          <a:xfrm>
            <a:off x="6693408" y="1947672"/>
            <a:ext cx="4572000" cy="320040"/>
          </a:xfrm>
          <a:prstGeom prst="rect">
            <a:avLst/>
          </a:prstGeom>
          <a:noFill/>
          <a:ln/>
        </p:spPr>
        <p:txBody>
          <a:bodyPr wrap="square" lIns="0" tIns="0" rIns="0" bIns="0" rtlCol="0" anchor="ctr"/>
          <a:lstStyle/>
          <a:p>
            <a:pPr indent="0" marL="0">
              <a:buNone/>
            </a:pPr>
            <a:r>
              <a:rPr lang="en-US" sz="1300" b="1" spc="150" kern="0" dirty="0">
                <a:solidFill>
                  <a:srgbClr val="7A2E2E"/>
                </a:solidFill>
                <a:latin typeface="Calibri" pitchFamily="34" charset="0"/>
                <a:ea typeface="Calibri" pitchFamily="34" charset="-122"/>
                <a:cs typeface="Calibri" pitchFamily="34" charset="-120"/>
              </a:rPr>
              <a:t>PROCESS YOU RUN FOR YOURSELF</a:t>
            </a:r>
            <a:endParaRPr lang="en-US" sz="1300" dirty="0"/>
          </a:p>
        </p:txBody>
      </p:sp>
      <p:sp>
        <p:nvSpPr>
          <p:cNvPr id="9" name="Text 7"/>
          <p:cNvSpPr/>
          <p:nvPr/>
        </p:nvSpPr>
        <p:spPr>
          <a:xfrm>
            <a:off x="6693408" y="231343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Every principle has a scar under it</a:t>
            </a:r>
            <a:endParaRPr lang="en-US" sz="1500" dirty="0"/>
          </a:p>
        </p:txBody>
      </p:sp>
      <p:sp>
        <p:nvSpPr>
          <p:cNvPr id="10" name="Text 8"/>
          <p:cNvSpPr/>
          <p:nvPr/>
        </p:nvSpPr>
        <p:spPr>
          <a:xfrm>
            <a:off x="6693408" y="2834640"/>
            <a:ext cx="4572000" cy="160020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You follow the one-copy rule because you’ve lost a feature to a vanished folder. You lay the gate because you’ve shipped a break.</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Not compliance — self-interest, made legible.</a:t>
            </a:r>
            <a:endParaRPr lang="en-US" sz="1350" dirty="0"/>
          </a:p>
        </p:txBody>
      </p:sp>
      <p:sp>
        <p:nvSpPr>
          <p:cNvPr id="11" name="Text 9"/>
          <p:cNvSpPr/>
          <p:nvPr/>
        </p:nvSpPr>
        <p:spPr>
          <a:xfrm>
            <a:off x="640080" y="493776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It gets followed because each step visibly saves you from a pain you have actually felt.</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honest part</a:t>
            </a:r>
            <a:endParaRPr lang="en-US" sz="3200" dirty="0"/>
          </a:p>
        </p:txBody>
      </p:sp>
      <p:sp>
        <p:nvSpPr>
          <p:cNvPr id="3" name="Text 1"/>
          <p:cNvSpPr/>
          <p:nvPr/>
        </p:nvSpPr>
        <p:spPr>
          <a:xfrm>
            <a:off x="640080" y="1463040"/>
            <a:ext cx="10972800" cy="502920"/>
          </a:xfrm>
          <a:prstGeom prst="rect">
            <a:avLst/>
          </a:prstGeom>
          <a:noFill/>
          <a:ln/>
        </p:spPr>
        <p:txBody>
          <a:bodyPr wrap="square" lIns="0" tIns="0" rIns="0" bIns="0" rtlCol="0" anchor="ctr"/>
          <a:lstStyle/>
          <a:p>
            <a:pPr indent="0" marL="0">
              <a:buNone/>
            </a:pPr>
            <a:r>
              <a:rPr lang="en-US" sz="2400" b="1" dirty="0">
                <a:solidFill>
                  <a:srgbClr val="1F3A5F"/>
                </a:solidFill>
                <a:latin typeface="Cambria" pitchFamily="34" charset="0"/>
                <a:ea typeface="Cambria" pitchFamily="34" charset="-122"/>
                <a:cs typeface="Cambria" pitchFamily="34" charset="-120"/>
              </a:rPr>
              <a:t>This pattern is proven on ONE real system.</a:t>
            </a:r>
            <a:endParaRPr lang="en-US" sz="2400" dirty="0"/>
          </a:p>
        </p:txBody>
      </p:sp>
      <p:sp>
        <p:nvSpPr>
          <p:cNvPr id="4" name="Text 2"/>
          <p:cNvSpPr/>
          <p:nvPr/>
        </p:nvSpPr>
        <p:spPr>
          <a:xfrm>
            <a:off x="640080" y="2057400"/>
            <a:ext cx="10972800" cy="822960"/>
          </a:xfrm>
          <a:prstGeom prst="rect">
            <a:avLst/>
          </a:prstGeom>
          <a:noFill/>
          <a:ln/>
        </p:spPr>
        <p:txBody>
          <a:bodyPr wrap="square" lIns="0" tIns="0" rIns="0" bIns="0" rtlCol="0" anchor="t"/>
          <a:lstStyle/>
          <a:p>
            <a:pPr indent="0" marL="0">
              <a:buNone/>
            </a:pPr>
            <a:r>
              <a:rPr lang="en-US" sz="1600" dirty="0">
                <a:solidFill>
                  <a:srgbClr val="3A4A5A"/>
                </a:solidFill>
                <a:latin typeface="Calibri" pitchFamily="34" charset="0"/>
                <a:ea typeface="Calibri" pitchFamily="34" charset="-122"/>
                <a:cs typeface="Calibri" pitchFamily="34" charset="-120"/>
              </a:rPr>
              <a:t>A live, deployed, multi-service application — real bugs fixed, new subsystems shipped, all run through the gate. That is genuine evidence, not theory. But it is one project, with one person as the whole team.</a:t>
            </a:r>
            <a:endParaRPr lang="en-US" sz="1600" dirty="0"/>
          </a:p>
        </p:txBody>
      </p:sp>
      <p:sp>
        <p:nvSpPr>
          <p:cNvPr id="5" name="Text 3"/>
          <p:cNvSpPr/>
          <p:nvPr/>
        </p:nvSpPr>
        <p:spPr>
          <a:xfrm>
            <a:off x="640080" y="2926080"/>
            <a:ext cx="10972800" cy="822960"/>
          </a:xfrm>
          <a:prstGeom prst="rect">
            <a:avLst/>
          </a:prstGeom>
          <a:noFill/>
          <a:ln/>
        </p:spPr>
        <p:txBody>
          <a:bodyPr wrap="square" lIns="0" tIns="0" rIns="0" bIns="0" rtlCol="0" anchor="t"/>
          <a:lstStyle/>
          <a:p>
            <a:pPr indent="0" marL="0">
              <a:buNone/>
            </a:pPr>
            <a:r>
              <a:rPr lang="en-US" sz="1600" dirty="0">
                <a:solidFill>
                  <a:srgbClr val="3A4A5A"/>
                </a:solidFill>
                <a:latin typeface="Calibri" pitchFamily="34" charset="0"/>
                <a:ea typeface="Calibri" pitchFamily="34" charset="-122"/>
                <a:cs typeface="Calibri" pitchFamily="34" charset="-120"/>
              </a:rPr>
              <a:t>It has since destroyed a production database and recovered it from a backup nobody had verified existed; published a number that could not be reproduced under any of five candidate rules; and cited a decision by a number that had been reassigned to a different decision. Every one of those is now a scar in this deck.</a:t>
            </a:r>
            <a:endParaRPr lang="en-US" sz="1600" dirty="0"/>
          </a:p>
        </p:txBody>
      </p:sp>
      <p:sp>
        <p:nvSpPr>
          <p:cNvPr id="6" name="Shape 4"/>
          <p:cNvSpPr/>
          <p:nvPr/>
        </p:nvSpPr>
        <p:spPr>
          <a:xfrm>
            <a:off x="640080" y="3931920"/>
            <a:ext cx="10972800" cy="1051560"/>
          </a:xfrm>
          <a:prstGeom prst="rect">
            <a:avLst/>
          </a:prstGeom>
          <a:solidFill>
            <a:srgbClr val="F6EEEE"/>
          </a:solidFill>
          <a:ln/>
        </p:spPr>
      </p:sp>
      <p:sp>
        <p:nvSpPr>
          <p:cNvPr id="7" name="Text 5"/>
          <p:cNvSpPr/>
          <p:nvPr/>
        </p:nvSpPr>
        <p:spPr>
          <a:xfrm>
            <a:off x="960120" y="4206240"/>
            <a:ext cx="10332720" cy="548640"/>
          </a:xfrm>
          <a:prstGeom prst="rect">
            <a:avLst/>
          </a:prstGeom>
          <a:noFill/>
          <a:ln/>
        </p:spPr>
        <p:txBody>
          <a:bodyPr wrap="square" lIns="0" tIns="0" rIns="0" bIns="0" rtlCol="0" anchor="ctr"/>
          <a:lstStyle/>
          <a:p>
            <a:pPr indent="0" marL="0">
              <a:buNone/>
            </a:pPr>
            <a:r>
              <a:rPr lang="en-US" sz="1900" b="1" dirty="0">
                <a:solidFill>
                  <a:srgbClr val="7A2E2E"/>
                </a:solidFill>
                <a:latin typeface="Calibri" pitchFamily="34" charset="0"/>
                <a:ea typeface="Calibri" pitchFamily="34" charset="-122"/>
                <a:cs typeface="Calibri" pitchFamily="34" charset="-120"/>
              </a:rPr>
              <a:t>Battle-tested on one system. Amended by every failure it produced. Taught as exactly that.</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that means — for you</a:t>
            </a:r>
            <a:endParaRPr lang="en-US" sz="3200" dirty="0"/>
          </a:p>
        </p:txBody>
      </p:sp>
      <p:sp>
        <p:nvSpPr>
          <p:cNvPr id="3" name="Text 1"/>
          <p:cNvSpPr/>
          <p:nvPr/>
        </p:nvSpPr>
        <p:spPr>
          <a:xfrm>
            <a:off x="640080" y="1600200"/>
            <a:ext cx="10972800" cy="1188720"/>
          </a:xfrm>
          <a:prstGeom prst="rect">
            <a:avLst/>
          </a:prstGeom>
          <a:noFill/>
          <a:ln/>
        </p:spPr>
        <p:txBody>
          <a:bodyPr wrap="square" lIns="0" tIns="0" rIns="0" bIns="0" rtlCol="0" anchor="t"/>
          <a:lstStyle/>
          <a:p>
            <a:pPr indent="0" marL="0">
              <a:buNone/>
            </a:pPr>
            <a:r>
              <a:rPr lang="en-US" sz="2000" dirty="0">
                <a:solidFill>
                  <a:srgbClr val="3A4A5A"/>
                </a:solidFill>
                <a:latin typeface="Calibri" pitchFamily="34" charset="0"/>
                <a:ea typeface="Calibri" pitchFamily="34" charset="-122"/>
                <a:cs typeface="Calibri" pitchFamily="34" charset="-120"/>
              </a:rPr>
              <a:t>Because the economics reversed, a person of sixty — with the judgment a long working life builds — is now as fit, or more fit, than any peer to carry an idea all the way to a working application. One that is stable. One that lasts.</a:t>
            </a:r>
            <a:endParaRPr lang="en-US" sz="2000" dirty="0"/>
          </a:p>
        </p:txBody>
      </p:sp>
      <p:sp>
        <p:nvSpPr>
          <p:cNvPr id="4" name="Shape 2"/>
          <p:cNvSpPr/>
          <p:nvPr/>
        </p:nvSpPr>
        <p:spPr>
          <a:xfrm>
            <a:off x="640080" y="3063240"/>
            <a:ext cx="10972800" cy="1234440"/>
          </a:xfrm>
          <a:prstGeom prst="rect">
            <a:avLst/>
          </a:prstGeom>
          <a:solidFill>
            <a:srgbClr val="F4F1EA"/>
          </a:solidFill>
          <a:ln/>
        </p:spPr>
      </p:sp>
      <p:sp>
        <p:nvSpPr>
          <p:cNvPr id="5" name="Text 3"/>
          <p:cNvSpPr/>
          <p:nvPr/>
        </p:nvSpPr>
        <p:spPr>
          <a:xfrm>
            <a:off x="960120" y="3364992"/>
            <a:ext cx="10332720" cy="685800"/>
          </a:xfrm>
          <a:prstGeom prst="rect">
            <a:avLst/>
          </a:prstGeom>
          <a:noFill/>
          <a:ln/>
        </p:spPr>
        <p:txBody>
          <a:bodyPr wrap="square" lIns="0" tIns="0" rIns="0" bIns="0" rtlCol="0" anchor="t"/>
          <a:lstStyle/>
          <a:p>
            <a:pPr indent="0" marL="0">
              <a:buNone/>
            </a:pPr>
            <a:r>
              <a:rPr lang="en-US" sz="2100" b="1" dirty="0">
                <a:solidFill>
                  <a:srgbClr val="1F3A5F"/>
                </a:solidFill>
                <a:latin typeface="Calibri" pitchFamily="34" charset="0"/>
                <a:ea typeface="Calibri" pitchFamily="34" charset="-122"/>
                <a:cs typeface="Calibri" pitchFamily="34" charset="-120"/>
              </a:rPr>
              <a:t>The tools stopped rewarding the fastest hands. They started rewarding the soundest judgment.</a:t>
            </a:r>
            <a:endParaRPr lang="en-US" sz="2100" dirty="0"/>
          </a:p>
        </p:txBody>
      </p:sp>
      <p:sp>
        <p:nvSpPr>
          <p:cNvPr id="6" name="Text 4"/>
          <p:cNvSpPr/>
          <p:nvPr/>
        </p:nvSpPr>
        <p:spPr>
          <a:xfrm>
            <a:off x="640080" y="4572000"/>
            <a:ext cx="10972800" cy="640080"/>
          </a:xfrm>
          <a:prstGeom prst="rect">
            <a:avLst/>
          </a:prstGeom>
          <a:noFill/>
          <a:ln/>
        </p:spPr>
        <p:txBody>
          <a:bodyPr wrap="square" lIns="0" tIns="0" rIns="0" bIns="0" rtlCol="0" anchor="ctr"/>
          <a:lstStyle/>
          <a:p>
            <a:pPr indent="0" marL="0">
              <a:buNone/>
            </a:pPr>
            <a:r>
              <a:rPr lang="en-US" sz="2600" b="1" dirty="0">
                <a:solidFill>
                  <a:srgbClr val="7A2E2E"/>
                </a:solidFill>
                <a:latin typeface="Cambria" pitchFamily="34" charset="0"/>
                <a:ea typeface="Cambria" pitchFamily="34" charset="-122"/>
                <a:cs typeface="Cambria" pitchFamily="34" charset="-120"/>
              </a:rPr>
              <a:t>That was never the young engineer’s edge. It is yours.</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2377440"/>
            <a:ext cx="105156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Lay the Keel first.</a:t>
            </a:r>
            <a:endParaRPr lang="en-US" sz="4600" dirty="0"/>
          </a:p>
        </p:txBody>
      </p:sp>
      <p:sp>
        <p:nvSpPr>
          <p:cNvPr id="3" name="Text 1"/>
          <p:cNvSpPr/>
          <p:nvPr/>
        </p:nvSpPr>
        <p:spPr>
          <a:xfrm>
            <a:off x="822960" y="3657600"/>
            <a:ext cx="10058400" cy="91440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Then go build the thing you have been waiting your whole career to build.</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And the third player is you</a:t>
            </a:r>
            <a:endParaRPr lang="en-US" sz="3200" dirty="0"/>
          </a:p>
        </p:txBody>
      </p:sp>
      <p:sp>
        <p:nvSpPr>
          <p:cNvPr id="3" name="Shape 1"/>
          <p:cNvSpPr/>
          <p:nvPr/>
        </p:nvSpPr>
        <p:spPr>
          <a:xfrm>
            <a:off x="640080" y="1737360"/>
            <a:ext cx="5148072" cy="3291840"/>
          </a:xfrm>
          <a:prstGeom prst="rect">
            <a:avLst/>
          </a:prstGeom>
          <a:solidFill>
            <a:srgbClr val="F4F1EA"/>
          </a:solidFill>
          <a:ln/>
        </p:spPr>
      </p:sp>
      <p:sp>
        <p:nvSpPr>
          <p:cNvPr id="4" name="Text 2"/>
          <p:cNvSpPr/>
          <p:nvPr/>
        </p:nvSpPr>
        <p:spPr>
          <a:xfrm>
            <a:off x="932688" y="1993392"/>
            <a:ext cx="4572000" cy="320040"/>
          </a:xfrm>
          <a:prstGeom prst="rect">
            <a:avLst/>
          </a:prstGeom>
          <a:noFill/>
          <a:ln/>
        </p:spPr>
        <p:txBody>
          <a:bodyPr wrap="square" lIns="0" tIns="0" rIns="0" bIns="0" rtlCol="0" anchor="ctr"/>
          <a:lstStyle/>
          <a:p>
            <a:pPr indent="0" marL="0">
              <a:buNone/>
            </a:pPr>
            <a:r>
              <a:rPr lang="en-US" sz="1300" b="1" spc="150" kern="0" dirty="0">
                <a:solidFill>
                  <a:srgbClr val="1F3A5F"/>
                </a:solidFill>
                <a:latin typeface="Calibri" pitchFamily="34" charset="0"/>
                <a:ea typeface="Calibri" pitchFamily="34" charset="-122"/>
                <a:cs typeface="Calibri" pitchFamily="34" charset="-120"/>
              </a:rPr>
              <a:t>WHAT ONLY YOU CAN DO</a:t>
            </a:r>
            <a:endParaRPr lang="en-US" sz="1300" dirty="0"/>
          </a:p>
        </p:txBody>
      </p:sp>
      <p:sp>
        <p:nvSpPr>
          <p:cNvPr id="5" name="Text 3"/>
          <p:cNvSpPr/>
          <p:nvPr/>
        </p:nvSpPr>
        <p:spPr>
          <a:xfrm>
            <a:off x="932688" y="235915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Neither AI can do any of it</a:t>
            </a:r>
            <a:endParaRPr lang="en-US" sz="1500" dirty="0"/>
          </a:p>
        </p:txBody>
      </p:sp>
      <p:sp>
        <p:nvSpPr>
          <p:cNvPr id="6" name="Text 4"/>
          <p:cNvSpPr/>
          <p:nvPr/>
        </p:nvSpPr>
        <p:spPr>
          <a:xfrm>
            <a:off x="932688" y="2880360"/>
            <a:ext cx="4572000" cy="187452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Rule. Ritualise. Destroy.</a:t>
            </a: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Rulings on judgement calls · credentials · destructive operations · the two daily rituals · the decision to stop.</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Neither AI has a clock, so neither knows the day ended. Continuity lives in the gap between sessions — the one place both of them cannot reach.</a:t>
            </a:r>
            <a:endParaRPr lang="en-US" sz="1350" dirty="0"/>
          </a:p>
        </p:txBody>
      </p:sp>
      <p:sp>
        <p:nvSpPr>
          <p:cNvPr id="7" name="Shape 5"/>
          <p:cNvSpPr/>
          <p:nvPr/>
        </p:nvSpPr>
        <p:spPr>
          <a:xfrm>
            <a:off x="6400800" y="1737360"/>
            <a:ext cx="5148072" cy="3291840"/>
          </a:xfrm>
          <a:prstGeom prst="rect">
            <a:avLst/>
          </a:prstGeom>
          <a:solidFill>
            <a:srgbClr val="F4F1EA"/>
          </a:solidFill>
          <a:ln/>
        </p:spPr>
      </p:sp>
      <p:sp>
        <p:nvSpPr>
          <p:cNvPr id="8" name="Text 6"/>
          <p:cNvSpPr/>
          <p:nvPr/>
        </p:nvSpPr>
        <p:spPr>
          <a:xfrm>
            <a:off x="6693408" y="1993392"/>
            <a:ext cx="4572000" cy="320040"/>
          </a:xfrm>
          <a:prstGeom prst="rect">
            <a:avLst/>
          </a:prstGeom>
          <a:noFill/>
          <a:ln/>
        </p:spPr>
        <p:txBody>
          <a:bodyPr wrap="square" lIns="0" tIns="0" rIns="0" bIns="0" rtlCol="0" anchor="ctr"/>
          <a:lstStyle/>
          <a:p>
            <a:pPr indent="0" marL="0">
              <a:buNone/>
            </a:pPr>
            <a:r>
              <a:rPr lang="en-US" sz="1300" b="1" spc="150" kern="0" dirty="0">
                <a:solidFill>
                  <a:srgbClr val="7A2E2E"/>
                </a:solidFill>
                <a:latin typeface="Calibri" pitchFamily="34" charset="0"/>
                <a:ea typeface="Calibri" pitchFamily="34" charset="-122"/>
                <a:cs typeface="Calibri" pitchFamily="34" charset="-120"/>
              </a:rPr>
              <a:t>HOW EACH OF YOU FAILS</a:t>
            </a:r>
            <a:endParaRPr lang="en-US" sz="1300" dirty="0"/>
          </a:p>
        </p:txBody>
      </p:sp>
      <p:sp>
        <p:nvSpPr>
          <p:cNvPr id="9" name="Text 7"/>
          <p:cNvSpPr/>
          <p:nvPr/>
        </p:nvSpPr>
        <p:spPr>
          <a:xfrm>
            <a:off x="6693408" y="2359152"/>
            <a:ext cx="4572000" cy="45720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Three different failure modes</a:t>
            </a:r>
            <a:endParaRPr lang="en-US" sz="1500" dirty="0"/>
          </a:p>
        </p:txBody>
      </p:sp>
      <p:sp>
        <p:nvSpPr>
          <p:cNvPr id="10" name="Text 8"/>
          <p:cNvSpPr/>
          <p:nvPr/>
        </p:nvSpPr>
        <p:spPr>
          <a:xfrm>
            <a:off x="6693408" y="2880360"/>
            <a:ext cx="4572000" cy="1874520"/>
          </a:xfrm>
          <a:prstGeom prst="rect">
            <a:avLst/>
          </a:prstGeom>
          <a:noFill/>
          <a:ln/>
        </p:spPr>
        <p:txBody>
          <a:bodyPr wrap="square" lIns="0" tIns="0" rIns="0" bIns="0" rtlCol="0" anchor="t"/>
          <a:lstStyle/>
          <a:p>
            <a:pPr indent="0" marL="0">
              <a:buNone/>
            </a:pPr>
            <a:r>
              <a:rPr lang="en-US" sz="1350" dirty="0">
                <a:solidFill>
                  <a:srgbClr val="3A4A5A"/>
                </a:solidFill>
                <a:latin typeface="Calibri" pitchFamily="34" charset="0"/>
                <a:ea typeface="Calibri" pitchFamily="34" charset="-122"/>
                <a:cs typeface="Calibri" pitchFamily="34" charset="-120"/>
              </a:rPr>
              <a:t>Doing · reasoning · omission.</a:t>
            </a: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The Builder fails by DOING — its mistakes are executed before anyone reads them. The Planner fails by REASONING — from a stale copy, a title it never opened. Its mistakes arrive as fluent summaries.</a:t>
            </a:r>
            <a:endParaRPr lang="en-US" sz="1350" dirty="0"/>
          </a:p>
          <a:p>
            <a:pPr indent="0" marL="0">
              <a:buNone/>
            </a:pPr>
            <a:endParaRPr lang="en-US" sz="1350" dirty="0"/>
          </a:p>
          <a:p>
            <a:pPr indent="0" marL="0">
              <a:buNone/>
            </a:pPr>
            <a:r>
              <a:rPr lang="en-US" sz="1350" dirty="0">
                <a:solidFill>
                  <a:srgbClr val="3A4A5A"/>
                </a:solidFill>
                <a:latin typeface="Calibri" pitchFamily="34" charset="0"/>
                <a:ea typeface="Calibri" pitchFamily="34" charset="-122"/>
                <a:cs typeface="Calibri" pitchFamily="34" charset="-120"/>
              </a:rPr>
              <a:t>You fail by OMISSION. Not doing something — and nothing goes red. There is no gate for it, no test, no red X.</a:t>
            </a:r>
            <a:endParaRPr lang="en-US" sz="1350" dirty="0"/>
          </a:p>
        </p:txBody>
      </p:sp>
      <p:sp>
        <p:nvSpPr>
          <p:cNvPr id="11" name="Text 9"/>
          <p:cNvSpPr/>
          <p:nvPr/>
        </p:nvSpPr>
        <p:spPr>
          <a:xfrm>
            <a:off x="640080" y="525780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They carry the work. You carry the seams. When you are short of time, the seams are what you drop — because dropping them costs nothing today.</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 10</a:t>
            </a:r>
            <a:endParaRPr lang="en-US" sz="3200" dirty="0"/>
          </a:p>
        </p:txBody>
      </p:sp>
      <p:sp>
        <p:nvSpPr>
          <p:cNvPr id="3" name="Shape 1"/>
          <p:cNvSpPr/>
          <p:nvPr/>
        </p:nvSpPr>
        <p:spPr>
          <a:xfrm>
            <a:off x="640080" y="1463040"/>
            <a:ext cx="502920" cy="502920"/>
          </a:xfrm>
          <a:prstGeom prst="rect">
            <a:avLst/>
          </a:prstGeom>
          <a:solidFill>
            <a:srgbClr val="1F3A5F"/>
          </a:solidFill>
          <a:ln/>
        </p:spPr>
      </p:sp>
      <p:sp>
        <p:nvSpPr>
          <p:cNvPr id="4"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5" name="Text 3"/>
          <p:cNvSpPr/>
          <p:nvPr/>
        </p:nvSpPr>
        <p:spPr>
          <a:xfrm>
            <a:off x="1325880" y="1444752"/>
            <a:ext cx="10149840" cy="45720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Build in the open. Go private when it goes real.</a:t>
            </a:r>
            <a:endParaRPr lang="en-US" sz="1900" dirty="0"/>
          </a:p>
        </p:txBody>
      </p:sp>
      <p:sp>
        <p:nvSpPr>
          <p:cNvPr id="6" name="Text 4"/>
          <p:cNvSpPr/>
          <p:nvPr/>
        </p:nvSpPr>
        <p:spPr>
          <a:xfrm>
            <a:off x="1325880" y="1920240"/>
            <a:ext cx="10149840" cy="658368"/>
          </a:xfrm>
          <a:prstGeom prst="rect">
            <a:avLst/>
          </a:prstGeom>
          <a:noFill/>
          <a:ln/>
        </p:spPr>
        <p:txBody>
          <a:bodyPr wrap="square" lIns="0" tIns="0" rIns="0" bIns="0" rtlCol="0" anchor="t"/>
          <a:lstStyle/>
          <a:p>
            <a:pPr indent="0" marL="0">
              <a:buNone/>
            </a:pPr>
            <a:r>
              <a:rPr lang="en-US" sz="1450" dirty="0">
                <a:solidFill>
                  <a:srgbClr val="3A4A5A"/>
                </a:solidFill>
                <a:latin typeface="Calibri" pitchFamily="34" charset="0"/>
                <a:ea typeface="Calibri" pitchFamily="34" charset="-122"/>
                <a:cs typeface="Calibri" pitchFamily="34" charset="-120"/>
              </a:rPr>
              <a:t>Public while you build, connected to your Planner. Private once the project is production-stable. The tripwires, whichever comes first: the first real credential, the first real user data, the first live deploy.</a:t>
            </a:r>
            <a:endParaRPr lang="en-US" sz="1450" dirty="0"/>
          </a:p>
        </p:txBody>
      </p:sp>
      <p:sp>
        <p:nvSpPr>
          <p:cNvPr id="7" name="Shape 5"/>
          <p:cNvSpPr/>
          <p:nvPr/>
        </p:nvSpPr>
        <p:spPr>
          <a:xfrm>
            <a:off x="1325880" y="2615184"/>
            <a:ext cx="10149840" cy="868680"/>
          </a:xfrm>
          <a:prstGeom prst="rect">
            <a:avLst/>
          </a:prstGeom>
          <a:solidFill>
            <a:srgbClr val="F6EEEE"/>
          </a:solidFill>
          <a:ln/>
        </p:spPr>
      </p:sp>
      <p:sp>
        <p:nvSpPr>
          <p:cNvPr id="8" name="Text 6"/>
          <p:cNvSpPr/>
          <p:nvPr/>
        </p:nvSpPr>
        <p:spPr>
          <a:xfrm>
            <a:off x="1508760" y="2706624"/>
            <a:ext cx="9784080" cy="713232"/>
          </a:xfrm>
          <a:prstGeom prst="rect">
            <a:avLst/>
          </a:prstGeom>
          <a:noFill/>
          <a:ln/>
        </p:spPr>
        <p:txBody>
          <a:bodyPr wrap="square" lIns="0" tIns="0" rIns="0" bIns="0" rtlCol="0" anchor="t"/>
          <a:lstStyle/>
          <a:p>
            <a:pPr indent="0" marL="0">
              <a:buNone/>
            </a:pPr>
            <a:r>
              <a:rPr lang="en-US" sz="1300" b="1" dirty="0">
                <a:solidFill>
                  <a:srgbClr val="7A2E2E"/>
                </a:solidFill>
                <a:latin typeface="Calibri" pitchFamily="34" charset="0"/>
                <a:ea typeface="Calibri" pitchFamily="34" charset="-122"/>
                <a:cs typeface="Calibri" pitchFamily="34" charset="-120"/>
              </a:rPr>
              <a:t>PAID FOR IN BLOOD.  </a:t>
            </a:r>
            <a:pPr indent="0" marL="0">
              <a:buNone/>
            </a:pPr>
            <a:r>
              <a:rPr lang="en-US" sz="1300" dirty="0">
                <a:solidFill>
                  <a:srgbClr val="7A2E2E"/>
                </a:solidFill>
                <a:latin typeface="Calibri" pitchFamily="34" charset="0"/>
                <a:ea typeface="Calibri" pitchFamily="34" charset="-122"/>
                <a:cs typeface="Calibri" pitchFamily="34" charset="-120"/>
              </a:rPr>
              <a:t>We spent weeks hand-carrying dated archives of our own code into the planning chat every morning, because we’d assumed private was the responsible default. Going public deleted the ritual, the folder of near-identical archives, and an entire class of “the AI is working from a stale copy” bugs — in one setting change.</a:t>
            </a:r>
            <a:endParaRPr lang="en-US" sz="1300" dirty="0"/>
          </a:p>
        </p:txBody>
      </p:sp>
      <p:sp>
        <p:nvSpPr>
          <p:cNvPr id="9" name="Shape 7"/>
          <p:cNvSpPr/>
          <p:nvPr/>
        </p:nvSpPr>
        <p:spPr>
          <a:xfrm>
            <a:off x="1325880" y="3886200"/>
            <a:ext cx="10149840" cy="1143000"/>
          </a:xfrm>
          <a:prstGeom prst="rect">
            <a:avLst/>
          </a:prstGeom>
          <a:solidFill>
            <a:srgbClr val="F4F1EA"/>
          </a:solidFill>
          <a:ln/>
        </p:spPr>
      </p:sp>
      <p:sp>
        <p:nvSpPr>
          <p:cNvPr id="10" name="Text 8"/>
          <p:cNvSpPr/>
          <p:nvPr/>
        </p:nvSpPr>
        <p:spPr>
          <a:xfrm>
            <a:off x="1600200" y="4114800"/>
            <a:ext cx="9601200" cy="73152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Every absence is a category with a cause. Reconcile both directions. Two paths to one number get compared once, on purpose.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5">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1874520"/>
            <a:ext cx="10515600" cy="365760"/>
          </a:xfrm>
          <a:prstGeom prst="rect">
            <a:avLst/>
          </a:prstGeom>
          <a:noFill/>
          <a:ln/>
        </p:spPr>
        <p:txBody>
          <a:bodyPr wrap="square" lIns="0" tIns="0" rIns="0" bIns="0" rtlCol="0" anchor="ctr"/>
          <a:lstStyle/>
          <a:p>
            <a:pPr indent="0" marL="0">
              <a:buNone/>
            </a:pPr>
            <a:r>
              <a:rPr lang="en-US" sz="1600" b="1" spc="200" kern="0" dirty="0">
                <a:solidFill>
                  <a:srgbClr val="8A6D3B"/>
                </a:solidFill>
                <a:latin typeface="Calibri" pitchFamily="34" charset="0"/>
                <a:ea typeface="Calibri" pitchFamily="34" charset="-122"/>
                <a:cs typeface="Calibri" pitchFamily="34" charset="-120"/>
              </a:rPr>
              <a:t>WHEN IT OUTGROWS YOUR EYES</a:t>
            </a:r>
            <a:endParaRPr lang="en-US" sz="1600" dirty="0"/>
          </a:p>
        </p:txBody>
      </p:sp>
      <p:sp>
        <p:nvSpPr>
          <p:cNvPr id="3" name="Text 1"/>
          <p:cNvSpPr/>
          <p:nvPr/>
        </p:nvSpPr>
        <p:spPr>
          <a:xfrm>
            <a:off x="822960" y="2194560"/>
            <a:ext cx="10515600" cy="17373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Part C.</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When it gets big.</a:t>
            </a:r>
            <a:endParaRPr lang="en-US" sz="4600" dirty="0"/>
          </a:p>
        </p:txBody>
      </p:sp>
      <p:sp>
        <p:nvSpPr>
          <p:cNvPr id="4" name="Text 2"/>
          <p:cNvSpPr/>
          <p:nvPr/>
        </p:nvSpPr>
        <p:spPr>
          <a:xfrm>
            <a:off x="822960" y="4114800"/>
            <a:ext cx="10058400" cy="10972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Not day one. Come back here the first time an output grows past what you actually read row by row.</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7724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Five moves for when nobody can check by eye</a:t>
            </a:r>
            <a:endParaRPr lang="en-US" sz="3200" dirty="0"/>
          </a:p>
        </p:txBody>
      </p:sp>
      <p:sp>
        <p:nvSpPr>
          <p:cNvPr id="3" name="Text 1"/>
          <p:cNvSpPr/>
          <p:nvPr/>
        </p:nvSpPr>
        <p:spPr>
          <a:xfrm>
            <a:off x="640080" y="1207008"/>
            <a:ext cx="10881360" cy="5029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Principle 11, made operational. Each one exists because a defect survived the transition looking exactly like a correct result.</a:t>
            </a:r>
            <a:endParaRPr lang="en-US" sz="1600" dirty="0"/>
          </a:p>
        </p:txBody>
      </p:sp>
      <p:sp>
        <p:nvSpPr>
          <p:cNvPr id="4" name="Shape 2"/>
          <p:cNvSpPr/>
          <p:nvPr/>
        </p:nvSpPr>
        <p:spPr>
          <a:xfrm>
            <a:off x="640080" y="2103120"/>
            <a:ext cx="2011680" cy="2697480"/>
          </a:xfrm>
          <a:prstGeom prst="rect">
            <a:avLst/>
          </a:prstGeom>
          <a:solidFill>
            <a:srgbClr val="F4F1EA"/>
          </a:solidFill>
          <a:ln/>
        </p:spPr>
      </p:sp>
      <p:sp>
        <p:nvSpPr>
          <p:cNvPr id="5" name="Shape 3"/>
          <p:cNvSpPr/>
          <p:nvPr/>
        </p:nvSpPr>
        <p:spPr>
          <a:xfrm>
            <a:off x="822960" y="2286000"/>
            <a:ext cx="566928" cy="566928"/>
          </a:xfrm>
          <a:prstGeom prst="rect">
            <a:avLst/>
          </a:prstGeom>
          <a:solidFill>
            <a:srgbClr val="1F3A5F"/>
          </a:solidFill>
          <a:ln/>
        </p:spPr>
      </p:sp>
      <p:sp>
        <p:nvSpPr>
          <p:cNvPr id="6" name="Text 4"/>
          <p:cNvSpPr/>
          <p:nvPr/>
        </p:nvSpPr>
        <p:spPr>
          <a:xfrm>
            <a:off x="82296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2296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Absence has a cause</a:t>
            </a:r>
            <a:endParaRPr lang="en-US" sz="1550" dirty="0"/>
          </a:p>
        </p:txBody>
      </p:sp>
      <p:sp>
        <p:nvSpPr>
          <p:cNvPr id="8" name="Text 6"/>
          <p:cNvSpPr/>
          <p:nvPr/>
        </p:nvSpPr>
        <p:spPr>
          <a:xfrm>
            <a:off x="82296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Never a zero, never a blank. Never-fetched and came-back-empty must carry different values.</a:t>
            </a:r>
            <a:endParaRPr lang="en-US" sz="1250" dirty="0"/>
          </a:p>
        </p:txBody>
      </p:sp>
      <p:sp>
        <p:nvSpPr>
          <p:cNvPr id="9" name="Shape 7"/>
          <p:cNvSpPr/>
          <p:nvPr/>
        </p:nvSpPr>
        <p:spPr>
          <a:xfrm>
            <a:off x="2880360" y="2103120"/>
            <a:ext cx="2011680" cy="2697480"/>
          </a:xfrm>
          <a:prstGeom prst="rect">
            <a:avLst/>
          </a:prstGeom>
          <a:solidFill>
            <a:srgbClr val="F4F1EA"/>
          </a:solidFill>
          <a:ln/>
        </p:spPr>
      </p:sp>
      <p:sp>
        <p:nvSpPr>
          <p:cNvPr id="10" name="Shape 8"/>
          <p:cNvSpPr/>
          <p:nvPr/>
        </p:nvSpPr>
        <p:spPr>
          <a:xfrm>
            <a:off x="3063240" y="2286000"/>
            <a:ext cx="566928" cy="566928"/>
          </a:xfrm>
          <a:prstGeom prst="rect">
            <a:avLst/>
          </a:prstGeom>
          <a:solidFill>
            <a:srgbClr val="1F3A5F"/>
          </a:solidFill>
          <a:ln/>
        </p:spPr>
      </p:sp>
      <p:sp>
        <p:nvSpPr>
          <p:cNvPr id="11" name="Text 9"/>
          <p:cNvSpPr/>
          <p:nvPr/>
        </p:nvSpPr>
        <p:spPr>
          <a:xfrm>
            <a:off x="306324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06324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Reconcile both ways</a:t>
            </a:r>
            <a:endParaRPr lang="en-US" sz="1550" dirty="0"/>
          </a:p>
        </p:txBody>
      </p:sp>
      <p:sp>
        <p:nvSpPr>
          <p:cNvPr id="13" name="Text 11"/>
          <p:cNvSpPr/>
          <p:nvPr/>
        </p:nvSpPr>
        <p:spPr>
          <a:xfrm>
            <a:off x="306324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Count the misses in BOTH directions. A one-directional check cannot see orphans.</a:t>
            </a:r>
            <a:endParaRPr lang="en-US" sz="1250" dirty="0"/>
          </a:p>
        </p:txBody>
      </p:sp>
      <p:sp>
        <p:nvSpPr>
          <p:cNvPr id="14" name="Shape 12"/>
          <p:cNvSpPr/>
          <p:nvPr/>
        </p:nvSpPr>
        <p:spPr>
          <a:xfrm>
            <a:off x="5120640" y="2103120"/>
            <a:ext cx="2011680" cy="2697480"/>
          </a:xfrm>
          <a:prstGeom prst="rect">
            <a:avLst/>
          </a:prstGeom>
          <a:solidFill>
            <a:srgbClr val="F4F1EA"/>
          </a:solidFill>
          <a:ln/>
        </p:spPr>
      </p:sp>
      <p:sp>
        <p:nvSpPr>
          <p:cNvPr id="15" name="Shape 13"/>
          <p:cNvSpPr/>
          <p:nvPr/>
        </p:nvSpPr>
        <p:spPr>
          <a:xfrm>
            <a:off x="5303520" y="2286000"/>
            <a:ext cx="566928" cy="566928"/>
          </a:xfrm>
          <a:prstGeom prst="rect">
            <a:avLst/>
          </a:prstGeom>
          <a:solidFill>
            <a:srgbClr val="1F3A5F"/>
          </a:solidFill>
          <a:ln/>
        </p:spPr>
      </p:sp>
      <p:sp>
        <p:nvSpPr>
          <p:cNvPr id="16" name="Text 14"/>
          <p:cNvSpPr/>
          <p:nvPr/>
        </p:nvSpPr>
        <p:spPr>
          <a:xfrm>
            <a:off x="530352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530352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Two paths, compared</a:t>
            </a:r>
            <a:endParaRPr lang="en-US" sz="1550" dirty="0"/>
          </a:p>
        </p:txBody>
      </p:sp>
      <p:sp>
        <p:nvSpPr>
          <p:cNvPr id="18" name="Text 16"/>
          <p:cNvSpPr/>
          <p:nvPr/>
        </p:nvSpPr>
        <p:spPr>
          <a:xfrm>
            <a:off x="530352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Any quantity written down twice gets compared once, on purpose — the numbers, not summaries of them.</a:t>
            </a:r>
            <a:endParaRPr lang="en-US" sz="1250" dirty="0"/>
          </a:p>
        </p:txBody>
      </p:sp>
      <p:sp>
        <p:nvSpPr>
          <p:cNvPr id="19" name="Shape 17"/>
          <p:cNvSpPr/>
          <p:nvPr/>
        </p:nvSpPr>
        <p:spPr>
          <a:xfrm>
            <a:off x="7360920" y="2103120"/>
            <a:ext cx="2011680" cy="2697480"/>
          </a:xfrm>
          <a:prstGeom prst="rect">
            <a:avLst/>
          </a:prstGeom>
          <a:solidFill>
            <a:srgbClr val="F4F1EA"/>
          </a:solidFill>
          <a:ln/>
        </p:spPr>
      </p:sp>
      <p:sp>
        <p:nvSpPr>
          <p:cNvPr id="20" name="Shape 18"/>
          <p:cNvSpPr/>
          <p:nvPr/>
        </p:nvSpPr>
        <p:spPr>
          <a:xfrm>
            <a:off x="7543800" y="2286000"/>
            <a:ext cx="566928" cy="566928"/>
          </a:xfrm>
          <a:prstGeom prst="rect">
            <a:avLst/>
          </a:prstGeom>
          <a:solidFill>
            <a:srgbClr val="1F3A5F"/>
          </a:solidFill>
          <a:ln/>
        </p:spPr>
      </p:sp>
      <p:sp>
        <p:nvSpPr>
          <p:cNvPr id="21" name="Text 19"/>
          <p:cNvSpPr/>
          <p:nvPr/>
        </p:nvSpPr>
        <p:spPr>
          <a:xfrm>
            <a:off x="754380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754380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Accept by reproduction</a:t>
            </a:r>
            <a:endParaRPr lang="en-US" sz="1550" dirty="0"/>
          </a:p>
        </p:txBody>
      </p:sp>
      <p:sp>
        <p:nvSpPr>
          <p:cNvPr id="23" name="Text 21"/>
          <p:cNvSpPr/>
          <p:nvPr/>
        </p:nvSpPr>
        <p:spPr>
          <a:xfrm>
            <a:off x="754380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A version string is a claim. Reproduce a known-good subset exactly — that is the acceptance test.</a:t>
            </a:r>
            <a:endParaRPr lang="en-US" sz="1250" dirty="0"/>
          </a:p>
        </p:txBody>
      </p:sp>
      <p:sp>
        <p:nvSpPr>
          <p:cNvPr id="24" name="Shape 22"/>
          <p:cNvSpPr/>
          <p:nvPr/>
        </p:nvSpPr>
        <p:spPr>
          <a:xfrm>
            <a:off x="9601200" y="2103120"/>
            <a:ext cx="2011680" cy="2697480"/>
          </a:xfrm>
          <a:prstGeom prst="rect">
            <a:avLst/>
          </a:prstGeom>
          <a:solidFill>
            <a:srgbClr val="F4F1EA"/>
          </a:solidFill>
          <a:ln/>
        </p:spPr>
      </p:sp>
      <p:sp>
        <p:nvSpPr>
          <p:cNvPr id="25" name="Shape 23"/>
          <p:cNvSpPr/>
          <p:nvPr/>
        </p:nvSpPr>
        <p:spPr>
          <a:xfrm>
            <a:off x="9784080" y="2286000"/>
            <a:ext cx="566928" cy="566928"/>
          </a:xfrm>
          <a:prstGeom prst="rect">
            <a:avLst/>
          </a:prstGeom>
          <a:solidFill>
            <a:srgbClr val="1F3A5F"/>
          </a:solidFill>
          <a:ln/>
        </p:spPr>
      </p:sp>
      <p:sp>
        <p:nvSpPr>
          <p:cNvPr id="26" name="Text 24"/>
          <p:cNvSpPr/>
          <p:nvPr/>
        </p:nvSpPr>
        <p:spPr>
          <a:xfrm>
            <a:off x="9784080"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9784080" y="3017520"/>
            <a:ext cx="1645920" cy="530352"/>
          </a:xfrm>
          <a:prstGeom prst="rect">
            <a:avLst/>
          </a:prstGeom>
          <a:noFill/>
          <a:ln/>
        </p:spPr>
        <p:txBody>
          <a:bodyPr wrap="square" lIns="0" tIns="0" rIns="0" bIns="0" rtlCol="0" anchor="t"/>
          <a:lstStyle/>
          <a:p>
            <a:pPr indent="0" marL="0">
              <a:buNone/>
            </a:pPr>
            <a:r>
              <a:rPr lang="en-US" sz="1550" b="1" dirty="0">
                <a:solidFill>
                  <a:srgbClr val="1F3A5F"/>
                </a:solidFill>
                <a:latin typeface="Calibri" pitchFamily="34" charset="0"/>
                <a:ea typeface="Calibri" pitchFamily="34" charset="-122"/>
                <a:cs typeface="Calibri" pitchFamily="34" charset="-120"/>
              </a:rPr>
              <a:t>Say what you lose</a:t>
            </a:r>
            <a:endParaRPr lang="en-US" sz="1550" dirty="0"/>
          </a:p>
        </p:txBody>
      </p:sp>
      <p:sp>
        <p:nvSpPr>
          <p:cNvPr id="28" name="Text 26"/>
          <p:cNvSpPr/>
          <p:nvPr/>
        </p:nvSpPr>
        <p:spPr>
          <a:xfrm>
            <a:off x="9784080" y="3584448"/>
            <a:ext cx="1645920" cy="1051560"/>
          </a:xfrm>
          <a:prstGeom prst="rect">
            <a:avLst/>
          </a:prstGeom>
          <a:noFill/>
          <a:ln/>
        </p:spPr>
        <p:txBody>
          <a:bodyPr wrap="square" lIns="0" tIns="0" rIns="0" bIns="0" rtlCol="0" anchor="t"/>
          <a:lstStyle/>
          <a:p>
            <a:pPr indent="0" marL="0">
              <a:buNone/>
            </a:pPr>
            <a:r>
              <a:rPr lang="en-US" sz="1250" dirty="0">
                <a:solidFill>
                  <a:srgbClr val="3A4A5A"/>
                </a:solidFill>
                <a:latin typeface="Calibri" pitchFamily="34" charset="0"/>
                <a:ea typeface="Calibri" pitchFamily="34" charset="-122"/>
                <a:cs typeface="Calibri" pitchFamily="34" charset="-120"/>
              </a:rPr>
              <a:t>Before you destroy anything: a COMPLETED backup exists · its age as exposure · what it does not cover.</a:t>
            </a:r>
            <a:endParaRPr lang="en-US" sz="1250" dirty="0"/>
          </a:p>
        </p:txBody>
      </p:sp>
      <p:sp>
        <p:nvSpPr>
          <p:cNvPr id="29" name="Text 27"/>
          <p:cNvSpPr/>
          <p:nvPr/>
        </p:nvSpPr>
        <p:spPr>
          <a:xfrm>
            <a:off x="640080" y="4983480"/>
            <a:ext cx="10881360" cy="640080"/>
          </a:xfrm>
          <a:prstGeom prst="rect">
            <a:avLst/>
          </a:prstGeom>
          <a:noFill/>
          <a:ln/>
        </p:spPr>
        <p:txBody>
          <a:bodyPr wrap="square" lIns="0" tIns="0" rIns="0" bIns="0" rtlCol="0" anchor="ctr"/>
          <a:lstStyle/>
          <a:p>
            <a:pPr indent="0" marL="0">
              <a:buNone/>
            </a:pPr>
            <a:r>
              <a:rPr lang="en-US" sz="1900" b="1" dirty="0">
                <a:solidFill>
                  <a:srgbClr val="7A2E2E"/>
                </a:solidFill>
                <a:latin typeface="Cambria" pitchFamily="34" charset="0"/>
                <a:ea typeface="Cambria" pitchFamily="34" charset="-122"/>
                <a:cs typeface="Cambria" pitchFamily="34" charset="-120"/>
              </a:rPr>
              <a:t>And never assert absence from a stale copy. A snapshot can prove a thing existed at a revision; it can never prove a thing does not exist.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KEEL — The Build-First Pattern</dc:title>
  <dc:subject>PptxGenJS Presentation</dc:subject>
  <dc:creator>KEEL</dc:creator>
  <cp:lastModifiedBy>KEEL</cp:lastModifiedBy>
  <cp:revision>1</cp:revision>
  <dcterms:created xsi:type="dcterms:W3CDTF">2026-08-03T20:54:52Z</dcterms:created>
  <dcterms:modified xsi:type="dcterms:W3CDTF">2026-08-03T20:54:52Z</dcterms:modified>
</cp:coreProperties>
</file>